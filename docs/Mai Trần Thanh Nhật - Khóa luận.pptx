
<file path=[Content_Types].xml><?xml version="1.0" encoding="utf-8"?>
<Types xmlns="http://schemas.openxmlformats.org/package/2006/content-types">
  <Default Extension="gif" ContentType="image/gif"/>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69" r:id="rId4"/>
    <p:sldId id="272" r:id="rId5"/>
    <p:sldId id="259" r:id="rId6"/>
    <p:sldId id="270" r:id="rId7"/>
    <p:sldId id="271" r:id="rId8"/>
    <p:sldId id="273" r:id="rId9"/>
    <p:sldId id="264" r:id="rId10"/>
    <p:sldId id="274" r:id="rId11"/>
    <p:sldId id="276" r:id="rId12"/>
    <p:sldId id="275" r:id="rId13"/>
    <p:sldId id="277" r:id="rId14"/>
    <p:sldId id="265" r:id="rId15"/>
    <p:sldId id="268" r:id="rId16"/>
    <p:sldId id="278" r:id="rId17"/>
  </p:sldIdLst>
  <p:sldSz cx="12192000" cy="6858000"/>
  <p:notesSz cx="9144000" cy="6858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LL" initials="D" lastIdx="1" clrIdx="0">
    <p:extLst>
      <p:ext uri="{19B8F6BF-5375-455C-9EA6-DF929625EA0E}">
        <p15:presenceInfo xmlns:p15="http://schemas.microsoft.com/office/powerpoint/2012/main" userId="c06b7b028fb3d71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7" autoAdjust="0"/>
    <p:restoredTop sz="94660"/>
  </p:normalViewPr>
  <p:slideViewPr>
    <p:cSldViewPr>
      <p:cViewPr varScale="1">
        <p:scale>
          <a:sx n="61" d="100"/>
          <a:sy n="61" d="100"/>
        </p:scale>
        <p:origin x="884" y="60"/>
      </p:cViewPr>
      <p:guideLst>
        <p:guide orient="horz" pos="288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30B34E44-ADD9-4458-82AA-16FAA7DD205D}" type="datetimeFigureOut">
              <a:rPr lang="vi-VN" smtClean="0"/>
              <a:t>06/07/2026</a:t>
            </a:fld>
            <a:endParaRPr lang="vi-VN"/>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F352F8DE-4BA4-4D9D-B939-7CB9A608C4E6}" type="slidenum">
              <a:rPr lang="vi-VN" smtClean="0"/>
              <a:t>‹#›</a:t>
            </a:fld>
            <a:endParaRPr lang="vi-VN"/>
          </a:p>
        </p:txBody>
      </p:sp>
    </p:spTree>
    <p:extLst>
      <p:ext uri="{BB962C8B-B14F-4D97-AF65-F5344CB8AC3E}">
        <p14:creationId xmlns:p14="http://schemas.microsoft.com/office/powerpoint/2010/main" val="3256608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553998"/>
          </a:xfrm>
          <a:prstGeom prst="rect">
            <a:avLst/>
          </a:prstGeom>
        </p:spPr>
        <p:txBody>
          <a:bodyPr wrap="square" lIns="0" tIns="0" rIns="0" bIns="0">
            <a:spAutoFit/>
          </a:bodyPr>
          <a:lstStyle>
            <a:lvl1pPr>
              <a:defRPr sz="3600" b="1" i="0">
                <a:solidFill>
                  <a:srgbClr val="FF0000"/>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307777"/>
          </a:xfrm>
          <a:prstGeom prst="rect">
            <a:avLst/>
          </a:prstGeom>
        </p:spPr>
        <p:txBody>
          <a:bodyPr wrap="square" lIns="0" tIns="0" rIns="0" bIns="0">
            <a:spAutoFit/>
          </a:bodyPr>
          <a:lstStyle>
            <a:lvl1pPr>
              <a:defRPr sz="20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FF0000"/>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0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FF0000"/>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307777"/>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307777"/>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FF0000"/>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5458775"/>
            <a:ext cx="12192000" cy="1399224"/>
          </a:xfrm>
          <a:prstGeom prst="rect">
            <a:avLst/>
          </a:prstGeom>
        </p:spPr>
      </p:pic>
      <p:pic>
        <p:nvPicPr>
          <p:cNvPr id="17" name="bg object 17"/>
          <p:cNvPicPr/>
          <p:nvPr/>
        </p:nvPicPr>
        <p:blipFill>
          <a:blip r:embed="rId8" cstate="print"/>
          <a:stretch>
            <a:fillRect/>
          </a:stretch>
        </p:blipFill>
        <p:spPr>
          <a:xfrm>
            <a:off x="0" y="801752"/>
            <a:ext cx="12192000" cy="238125"/>
          </a:xfrm>
          <a:prstGeom prst="rect">
            <a:avLst/>
          </a:prstGeom>
        </p:spPr>
      </p:pic>
      <p:sp>
        <p:nvSpPr>
          <p:cNvPr id="18" name="bg object 18"/>
          <p:cNvSpPr/>
          <p:nvPr/>
        </p:nvSpPr>
        <p:spPr>
          <a:xfrm>
            <a:off x="52916" y="595377"/>
            <a:ext cx="804333" cy="630555"/>
          </a:xfrm>
          <a:custGeom>
            <a:avLst/>
            <a:gdLst/>
            <a:ahLst/>
            <a:cxnLst/>
            <a:rect l="l" t="t" r="r" b="b"/>
            <a:pathLst>
              <a:path w="603250" h="630555">
                <a:moveTo>
                  <a:pt x="301625" y="0"/>
                </a:moveTo>
                <a:lnTo>
                  <a:pt x="257052" y="3414"/>
                </a:lnTo>
                <a:lnTo>
                  <a:pt x="214510" y="13332"/>
                </a:lnTo>
                <a:lnTo>
                  <a:pt x="174466" y="29268"/>
                </a:lnTo>
                <a:lnTo>
                  <a:pt x="137385" y="50737"/>
                </a:lnTo>
                <a:lnTo>
                  <a:pt x="103735" y="77251"/>
                </a:lnTo>
                <a:lnTo>
                  <a:pt x="73982" y="108326"/>
                </a:lnTo>
                <a:lnTo>
                  <a:pt x="48592" y="143474"/>
                </a:lnTo>
                <a:lnTo>
                  <a:pt x="28033" y="182211"/>
                </a:lnTo>
                <a:lnTo>
                  <a:pt x="12770" y="224049"/>
                </a:lnTo>
                <a:lnTo>
                  <a:pt x="3270" y="268503"/>
                </a:lnTo>
                <a:lnTo>
                  <a:pt x="0" y="315087"/>
                </a:lnTo>
                <a:lnTo>
                  <a:pt x="3270" y="361641"/>
                </a:lnTo>
                <a:lnTo>
                  <a:pt x="12770" y="406078"/>
                </a:lnTo>
                <a:lnTo>
                  <a:pt x="28033" y="447907"/>
                </a:lnTo>
                <a:lnTo>
                  <a:pt x="48592" y="486642"/>
                </a:lnTo>
                <a:lnTo>
                  <a:pt x="73982" y="521795"/>
                </a:lnTo>
                <a:lnTo>
                  <a:pt x="103735" y="552879"/>
                </a:lnTo>
                <a:lnTo>
                  <a:pt x="137385" y="579404"/>
                </a:lnTo>
                <a:lnTo>
                  <a:pt x="174466" y="600884"/>
                </a:lnTo>
                <a:lnTo>
                  <a:pt x="214510" y="616831"/>
                </a:lnTo>
                <a:lnTo>
                  <a:pt x="257052" y="626757"/>
                </a:lnTo>
                <a:lnTo>
                  <a:pt x="301625" y="630174"/>
                </a:lnTo>
                <a:lnTo>
                  <a:pt x="346197" y="626757"/>
                </a:lnTo>
                <a:lnTo>
                  <a:pt x="388739" y="616831"/>
                </a:lnTo>
                <a:lnTo>
                  <a:pt x="428783" y="600884"/>
                </a:lnTo>
                <a:lnTo>
                  <a:pt x="465864" y="579404"/>
                </a:lnTo>
                <a:lnTo>
                  <a:pt x="499514" y="552879"/>
                </a:lnTo>
                <a:lnTo>
                  <a:pt x="529267" y="521795"/>
                </a:lnTo>
                <a:lnTo>
                  <a:pt x="554657" y="486642"/>
                </a:lnTo>
                <a:lnTo>
                  <a:pt x="575216" y="447907"/>
                </a:lnTo>
                <a:lnTo>
                  <a:pt x="590479" y="406078"/>
                </a:lnTo>
                <a:lnTo>
                  <a:pt x="599979" y="361641"/>
                </a:lnTo>
                <a:lnTo>
                  <a:pt x="603250" y="315087"/>
                </a:lnTo>
                <a:lnTo>
                  <a:pt x="599979" y="268503"/>
                </a:lnTo>
                <a:lnTo>
                  <a:pt x="590479" y="224049"/>
                </a:lnTo>
                <a:lnTo>
                  <a:pt x="575216" y="182211"/>
                </a:lnTo>
                <a:lnTo>
                  <a:pt x="554657" y="143474"/>
                </a:lnTo>
                <a:lnTo>
                  <a:pt x="529267" y="108326"/>
                </a:lnTo>
                <a:lnTo>
                  <a:pt x="499514" y="77251"/>
                </a:lnTo>
                <a:lnTo>
                  <a:pt x="465864" y="50737"/>
                </a:lnTo>
                <a:lnTo>
                  <a:pt x="428783" y="29268"/>
                </a:lnTo>
                <a:lnTo>
                  <a:pt x="388739" y="13332"/>
                </a:lnTo>
                <a:lnTo>
                  <a:pt x="346197" y="3414"/>
                </a:lnTo>
                <a:lnTo>
                  <a:pt x="301625" y="0"/>
                </a:lnTo>
                <a:close/>
              </a:path>
            </a:pathLst>
          </a:custGeom>
          <a:solidFill>
            <a:srgbClr val="FFFFFF"/>
          </a:solidFill>
        </p:spPr>
        <p:txBody>
          <a:bodyPr wrap="square" lIns="0" tIns="0" rIns="0" bIns="0" rtlCol="0"/>
          <a:lstStyle/>
          <a:p>
            <a:endParaRPr/>
          </a:p>
        </p:txBody>
      </p:sp>
      <p:pic>
        <p:nvPicPr>
          <p:cNvPr id="19" name="bg object 19"/>
          <p:cNvPicPr/>
          <p:nvPr/>
        </p:nvPicPr>
        <p:blipFill>
          <a:blip r:embed="rId9" cstate="print"/>
          <a:stretch>
            <a:fillRect/>
          </a:stretch>
        </p:blipFill>
        <p:spPr>
          <a:xfrm>
            <a:off x="99483" y="647764"/>
            <a:ext cx="696383" cy="522287"/>
          </a:xfrm>
          <a:prstGeom prst="rect">
            <a:avLst/>
          </a:prstGeom>
        </p:spPr>
      </p:pic>
      <p:sp>
        <p:nvSpPr>
          <p:cNvPr id="2" name="Holder 2"/>
          <p:cNvSpPr>
            <a:spLocks noGrp="1"/>
          </p:cNvSpPr>
          <p:nvPr>
            <p:ph type="title"/>
          </p:nvPr>
        </p:nvSpPr>
        <p:spPr>
          <a:xfrm>
            <a:off x="1199217" y="120778"/>
            <a:ext cx="9793563" cy="553998"/>
          </a:xfrm>
          <a:prstGeom prst="rect">
            <a:avLst/>
          </a:prstGeom>
        </p:spPr>
        <p:txBody>
          <a:bodyPr wrap="square" lIns="0" tIns="0" rIns="0" bIns="0">
            <a:spAutoFit/>
          </a:bodyPr>
          <a:lstStyle>
            <a:lvl1pPr>
              <a:defRPr sz="3600" b="1" i="0">
                <a:solidFill>
                  <a:srgbClr val="FF0000"/>
                </a:solidFill>
                <a:latin typeface="Times New Roman"/>
                <a:cs typeface="Times New Roman"/>
              </a:defRPr>
            </a:lvl1pPr>
          </a:lstStyle>
          <a:p>
            <a:endParaRPr/>
          </a:p>
        </p:txBody>
      </p:sp>
      <p:sp>
        <p:nvSpPr>
          <p:cNvPr id="3" name="Holder 3"/>
          <p:cNvSpPr>
            <a:spLocks noGrp="1"/>
          </p:cNvSpPr>
          <p:nvPr>
            <p:ph type="body" idx="1"/>
          </p:nvPr>
        </p:nvSpPr>
        <p:spPr>
          <a:xfrm>
            <a:off x="1220555" y="1356970"/>
            <a:ext cx="10298007" cy="307777"/>
          </a:xfrm>
          <a:prstGeom prst="rect">
            <a:avLst/>
          </a:prstGeom>
        </p:spPr>
        <p:txBody>
          <a:bodyPr wrap="square" lIns="0" tIns="0" rIns="0" bIns="0">
            <a:spAutoFit/>
          </a:bodyPr>
          <a:lstStyle>
            <a:lvl1pPr>
              <a:defRPr sz="20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7/6/2026</a:t>
            </a:fld>
            <a:endParaRPr lang="en-US"/>
          </a:p>
        </p:txBody>
      </p:sp>
      <p:sp>
        <p:nvSpPr>
          <p:cNvPr id="6" name="Holder 6"/>
          <p:cNvSpPr>
            <a:spLocks noGrp="1"/>
          </p:cNvSpPr>
          <p:nvPr>
            <p:ph type="sldNum" sz="quarter" idx="7"/>
          </p:nvPr>
        </p:nvSpPr>
        <p:spPr>
          <a:xfrm>
            <a:off x="8778240" y="6377940"/>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428626"/>
            <a:ext cx="9144000" cy="993775"/>
          </a:xfrm>
          <a:prstGeom prst="rect">
            <a:avLst/>
          </a:prstGeom>
        </p:spPr>
      </p:pic>
      <p:pic>
        <p:nvPicPr>
          <p:cNvPr id="3" name="object 3"/>
          <p:cNvPicPr/>
          <p:nvPr/>
        </p:nvPicPr>
        <p:blipFill>
          <a:blip r:embed="rId3" cstate="print"/>
          <a:stretch>
            <a:fillRect/>
          </a:stretch>
        </p:blipFill>
        <p:spPr>
          <a:xfrm>
            <a:off x="1524001" y="5473700"/>
            <a:ext cx="9134475" cy="1384300"/>
          </a:xfrm>
          <a:prstGeom prst="rect">
            <a:avLst/>
          </a:prstGeom>
        </p:spPr>
      </p:pic>
      <p:grpSp>
        <p:nvGrpSpPr>
          <p:cNvPr id="4" name="object 4"/>
          <p:cNvGrpSpPr/>
          <p:nvPr/>
        </p:nvGrpSpPr>
        <p:grpSpPr>
          <a:xfrm>
            <a:off x="2060575" y="-7874"/>
            <a:ext cx="1720850" cy="1812925"/>
            <a:chOff x="536575" y="68326"/>
            <a:chExt cx="1720850" cy="1812925"/>
          </a:xfrm>
        </p:grpSpPr>
        <p:sp>
          <p:nvSpPr>
            <p:cNvPr id="5" name="object 5"/>
            <p:cNvSpPr/>
            <p:nvPr/>
          </p:nvSpPr>
          <p:spPr>
            <a:xfrm>
              <a:off x="536575" y="68326"/>
              <a:ext cx="1720850" cy="1812925"/>
            </a:xfrm>
            <a:custGeom>
              <a:avLst/>
              <a:gdLst/>
              <a:ahLst/>
              <a:cxnLst/>
              <a:rect l="l" t="t" r="r" b="b"/>
              <a:pathLst>
                <a:path w="1720850" h="1812925">
                  <a:moveTo>
                    <a:pt x="860425" y="0"/>
                  </a:moveTo>
                  <a:lnTo>
                    <a:pt x="813216" y="1341"/>
                  </a:lnTo>
                  <a:lnTo>
                    <a:pt x="766672" y="5318"/>
                  </a:lnTo>
                  <a:lnTo>
                    <a:pt x="720860" y="11862"/>
                  </a:lnTo>
                  <a:lnTo>
                    <a:pt x="675844" y="20903"/>
                  </a:lnTo>
                  <a:lnTo>
                    <a:pt x="631691" y="32374"/>
                  </a:lnTo>
                  <a:lnTo>
                    <a:pt x="588465" y="46204"/>
                  </a:lnTo>
                  <a:lnTo>
                    <a:pt x="546233" y="62325"/>
                  </a:lnTo>
                  <a:lnTo>
                    <a:pt x="505060" y="80667"/>
                  </a:lnTo>
                  <a:lnTo>
                    <a:pt x="465011" y="101162"/>
                  </a:lnTo>
                  <a:lnTo>
                    <a:pt x="426153" y="123740"/>
                  </a:lnTo>
                  <a:lnTo>
                    <a:pt x="388551" y="148332"/>
                  </a:lnTo>
                  <a:lnTo>
                    <a:pt x="352270" y="174869"/>
                  </a:lnTo>
                  <a:lnTo>
                    <a:pt x="317377" y="203283"/>
                  </a:lnTo>
                  <a:lnTo>
                    <a:pt x="283936" y="233503"/>
                  </a:lnTo>
                  <a:lnTo>
                    <a:pt x="252014" y="265461"/>
                  </a:lnTo>
                  <a:lnTo>
                    <a:pt x="221675" y="299088"/>
                  </a:lnTo>
                  <a:lnTo>
                    <a:pt x="192986" y="334315"/>
                  </a:lnTo>
                  <a:lnTo>
                    <a:pt x="166013" y="371072"/>
                  </a:lnTo>
                  <a:lnTo>
                    <a:pt x="140820" y="409291"/>
                  </a:lnTo>
                  <a:lnTo>
                    <a:pt x="117474" y="448902"/>
                  </a:lnTo>
                  <a:lnTo>
                    <a:pt x="96039" y="489837"/>
                  </a:lnTo>
                  <a:lnTo>
                    <a:pt x="76583" y="532026"/>
                  </a:lnTo>
                  <a:lnTo>
                    <a:pt x="59169" y="575400"/>
                  </a:lnTo>
                  <a:lnTo>
                    <a:pt x="43865" y="619890"/>
                  </a:lnTo>
                  <a:lnTo>
                    <a:pt x="30735" y="665427"/>
                  </a:lnTo>
                  <a:lnTo>
                    <a:pt x="19845" y="711942"/>
                  </a:lnTo>
                  <a:lnTo>
                    <a:pt x="11261" y="759365"/>
                  </a:lnTo>
                  <a:lnTo>
                    <a:pt x="5048" y="807629"/>
                  </a:lnTo>
                  <a:lnTo>
                    <a:pt x="1273" y="856663"/>
                  </a:lnTo>
                  <a:lnTo>
                    <a:pt x="0" y="906399"/>
                  </a:lnTo>
                  <a:lnTo>
                    <a:pt x="1273" y="956135"/>
                  </a:lnTo>
                  <a:lnTo>
                    <a:pt x="5048" y="1005170"/>
                  </a:lnTo>
                  <a:lnTo>
                    <a:pt x="11261" y="1053435"/>
                  </a:lnTo>
                  <a:lnTo>
                    <a:pt x="19845" y="1100862"/>
                  </a:lnTo>
                  <a:lnTo>
                    <a:pt x="30735" y="1147380"/>
                  </a:lnTo>
                  <a:lnTo>
                    <a:pt x="43865" y="1192921"/>
                  </a:lnTo>
                  <a:lnTo>
                    <a:pt x="59169" y="1237415"/>
                  </a:lnTo>
                  <a:lnTo>
                    <a:pt x="76583" y="1280794"/>
                  </a:lnTo>
                  <a:lnTo>
                    <a:pt x="96039" y="1322988"/>
                  </a:lnTo>
                  <a:lnTo>
                    <a:pt x="117474" y="1363928"/>
                  </a:lnTo>
                  <a:lnTo>
                    <a:pt x="140820" y="1403545"/>
                  </a:lnTo>
                  <a:lnTo>
                    <a:pt x="166013" y="1441770"/>
                  </a:lnTo>
                  <a:lnTo>
                    <a:pt x="192986" y="1478533"/>
                  </a:lnTo>
                  <a:lnTo>
                    <a:pt x="221675" y="1513766"/>
                  </a:lnTo>
                  <a:lnTo>
                    <a:pt x="252014" y="1547399"/>
                  </a:lnTo>
                  <a:lnTo>
                    <a:pt x="283936" y="1579364"/>
                  </a:lnTo>
                  <a:lnTo>
                    <a:pt x="317377" y="1609590"/>
                  </a:lnTo>
                  <a:lnTo>
                    <a:pt x="352270" y="1638010"/>
                  </a:lnTo>
                  <a:lnTo>
                    <a:pt x="388551" y="1664553"/>
                  </a:lnTo>
                  <a:lnTo>
                    <a:pt x="426153" y="1689151"/>
                  </a:lnTo>
                  <a:lnTo>
                    <a:pt x="465011" y="1711735"/>
                  </a:lnTo>
                  <a:lnTo>
                    <a:pt x="505060" y="1732235"/>
                  </a:lnTo>
                  <a:lnTo>
                    <a:pt x="546233" y="1750582"/>
                  </a:lnTo>
                  <a:lnTo>
                    <a:pt x="588465" y="1766707"/>
                  </a:lnTo>
                  <a:lnTo>
                    <a:pt x="631691" y="1780541"/>
                  </a:lnTo>
                  <a:lnTo>
                    <a:pt x="675844" y="1792014"/>
                  </a:lnTo>
                  <a:lnTo>
                    <a:pt x="720860" y="1801059"/>
                  </a:lnTo>
                  <a:lnTo>
                    <a:pt x="766672" y="1807605"/>
                  </a:lnTo>
                  <a:lnTo>
                    <a:pt x="813216" y="1811583"/>
                  </a:lnTo>
                  <a:lnTo>
                    <a:pt x="860425" y="1812925"/>
                  </a:lnTo>
                  <a:lnTo>
                    <a:pt x="907637" y="1811583"/>
                  </a:lnTo>
                  <a:lnTo>
                    <a:pt x="954183" y="1807605"/>
                  </a:lnTo>
                  <a:lnTo>
                    <a:pt x="999998" y="1801059"/>
                  </a:lnTo>
                  <a:lnTo>
                    <a:pt x="1045016" y="1792014"/>
                  </a:lnTo>
                  <a:lnTo>
                    <a:pt x="1089171" y="1780541"/>
                  </a:lnTo>
                  <a:lnTo>
                    <a:pt x="1132399" y="1766707"/>
                  </a:lnTo>
                  <a:lnTo>
                    <a:pt x="1174632" y="1750582"/>
                  </a:lnTo>
                  <a:lnTo>
                    <a:pt x="1215806" y="1732235"/>
                  </a:lnTo>
                  <a:lnTo>
                    <a:pt x="1255854" y="1711735"/>
                  </a:lnTo>
                  <a:lnTo>
                    <a:pt x="1294713" y="1689151"/>
                  </a:lnTo>
                  <a:lnTo>
                    <a:pt x="1332315" y="1664553"/>
                  </a:lnTo>
                  <a:lnTo>
                    <a:pt x="1368595" y="1638010"/>
                  </a:lnTo>
                  <a:lnTo>
                    <a:pt x="1403488" y="1609590"/>
                  </a:lnTo>
                  <a:lnTo>
                    <a:pt x="1436928" y="1579364"/>
                  </a:lnTo>
                  <a:lnTo>
                    <a:pt x="1468850" y="1547399"/>
                  </a:lnTo>
                  <a:lnTo>
                    <a:pt x="1499187" y="1513766"/>
                  </a:lnTo>
                  <a:lnTo>
                    <a:pt x="1527875" y="1478533"/>
                  </a:lnTo>
                  <a:lnTo>
                    <a:pt x="1554847" y="1441770"/>
                  </a:lnTo>
                  <a:lnTo>
                    <a:pt x="1580039" y="1403545"/>
                  </a:lnTo>
                  <a:lnTo>
                    <a:pt x="1603384" y="1363928"/>
                  </a:lnTo>
                  <a:lnTo>
                    <a:pt x="1624817" y="1322988"/>
                  </a:lnTo>
                  <a:lnTo>
                    <a:pt x="1644272" y="1280794"/>
                  </a:lnTo>
                  <a:lnTo>
                    <a:pt x="1661684" y="1237415"/>
                  </a:lnTo>
                  <a:lnTo>
                    <a:pt x="1676988" y="1192921"/>
                  </a:lnTo>
                  <a:lnTo>
                    <a:pt x="1690117" y="1147380"/>
                  </a:lnTo>
                  <a:lnTo>
                    <a:pt x="1701006" y="1100862"/>
                  </a:lnTo>
                  <a:lnTo>
                    <a:pt x="1709589" y="1053435"/>
                  </a:lnTo>
                  <a:lnTo>
                    <a:pt x="1715801" y="1005170"/>
                  </a:lnTo>
                  <a:lnTo>
                    <a:pt x="1719576" y="956135"/>
                  </a:lnTo>
                  <a:lnTo>
                    <a:pt x="1720850" y="906399"/>
                  </a:lnTo>
                  <a:lnTo>
                    <a:pt x="1719576" y="856663"/>
                  </a:lnTo>
                  <a:lnTo>
                    <a:pt x="1715801" y="807629"/>
                  </a:lnTo>
                  <a:lnTo>
                    <a:pt x="1709589" y="759365"/>
                  </a:lnTo>
                  <a:lnTo>
                    <a:pt x="1701006" y="711942"/>
                  </a:lnTo>
                  <a:lnTo>
                    <a:pt x="1690117" y="665427"/>
                  </a:lnTo>
                  <a:lnTo>
                    <a:pt x="1676988" y="619890"/>
                  </a:lnTo>
                  <a:lnTo>
                    <a:pt x="1661684" y="575400"/>
                  </a:lnTo>
                  <a:lnTo>
                    <a:pt x="1644272" y="532026"/>
                  </a:lnTo>
                  <a:lnTo>
                    <a:pt x="1624817" y="489837"/>
                  </a:lnTo>
                  <a:lnTo>
                    <a:pt x="1603384" y="448902"/>
                  </a:lnTo>
                  <a:lnTo>
                    <a:pt x="1580039" y="409291"/>
                  </a:lnTo>
                  <a:lnTo>
                    <a:pt x="1554847" y="371072"/>
                  </a:lnTo>
                  <a:lnTo>
                    <a:pt x="1527875" y="334315"/>
                  </a:lnTo>
                  <a:lnTo>
                    <a:pt x="1499187" y="299088"/>
                  </a:lnTo>
                  <a:lnTo>
                    <a:pt x="1468850" y="265461"/>
                  </a:lnTo>
                  <a:lnTo>
                    <a:pt x="1436928" y="233503"/>
                  </a:lnTo>
                  <a:lnTo>
                    <a:pt x="1403488" y="203283"/>
                  </a:lnTo>
                  <a:lnTo>
                    <a:pt x="1368595" y="174869"/>
                  </a:lnTo>
                  <a:lnTo>
                    <a:pt x="1332315" y="148332"/>
                  </a:lnTo>
                  <a:lnTo>
                    <a:pt x="1294713" y="123740"/>
                  </a:lnTo>
                  <a:lnTo>
                    <a:pt x="1255854" y="101162"/>
                  </a:lnTo>
                  <a:lnTo>
                    <a:pt x="1215806" y="80667"/>
                  </a:lnTo>
                  <a:lnTo>
                    <a:pt x="1174632" y="62325"/>
                  </a:lnTo>
                  <a:lnTo>
                    <a:pt x="1132399" y="46204"/>
                  </a:lnTo>
                  <a:lnTo>
                    <a:pt x="1089171" y="32374"/>
                  </a:lnTo>
                  <a:lnTo>
                    <a:pt x="1045016" y="20903"/>
                  </a:lnTo>
                  <a:lnTo>
                    <a:pt x="999998" y="11862"/>
                  </a:lnTo>
                  <a:lnTo>
                    <a:pt x="954183" y="5318"/>
                  </a:lnTo>
                  <a:lnTo>
                    <a:pt x="907637" y="1341"/>
                  </a:lnTo>
                  <a:lnTo>
                    <a:pt x="860425" y="0"/>
                  </a:lnTo>
                  <a:close/>
                </a:path>
              </a:pathLst>
            </a:custGeom>
            <a:solidFill>
              <a:srgbClr val="FFFFFF"/>
            </a:solidFill>
          </p:spPr>
          <p:txBody>
            <a:bodyPr wrap="square" lIns="0" tIns="0" rIns="0" bIns="0" rtlCol="0"/>
            <a:lstStyle/>
            <a:p>
              <a:endParaRPr/>
            </a:p>
          </p:txBody>
        </p:sp>
        <p:pic>
          <p:nvPicPr>
            <p:cNvPr id="6" name="object 6"/>
            <p:cNvPicPr/>
            <p:nvPr/>
          </p:nvPicPr>
          <p:blipFill>
            <a:blip r:embed="rId4" cstate="print"/>
            <a:stretch>
              <a:fillRect/>
            </a:stretch>
          </p:blipFill>
          <p:spPr>
            <a:xfrm>
              <a:off x="676275" y="284098"/>
              <a:ext cx="1417701" cy="1419225"/>
            </a:xfrm>
            <a:prstGeom prst="rect">
              <a:avLst/>
            </a:prstGeom>
          </p:spPr>
        </p:pic>
      </p:grpSp>
      <p:sp>
        <p:nvSpPr>
          <p:cNvPr id="7" name="object 7"/>
          <p:cNvSpPr txBox="1">
            <a:spLocks noGrp="1"/>
          </p:cNvSpPr>
          <p:nvPr>
            <p:ph type="title"/>
          </p:nvPr>
        </p:nvSpPr>
        <p:spPr>
          <a:xfrm>
            <a:off x="2143125" y="33507"/>
            <a:ext cx="7848600" cy="1234056"/>
          </a:xfrm>
          <a:prstGeom prst="rect">
            <a:avLst/>
          </a:prstGeom>
        </p:spPr>
        <p:txBody>
          <a:bodyPr vert="horz" wrap="square" lIns="0" tIns="490601" rIns="0" bIns="0" rtlCol="0">
            <a:spAutoFit/>
          </a:bodyPr>
          <a:lstStyle/>
          <a:p>
            <a:pPr marL="2611120" algn="ctr">
              <a:spcBef>
                <a:spcPts val="100"/>
              </a:spcBef>
            </a:pPr>
            <a:r>
              <a:rPr sz="2400">
                <a:solidFill>
                  <a:srgbClr val="FFFF00"/>
                </a:solidFill>
              </a:rPr>
              <a:t>ĐẠI</a:t>
            </a:r>
            <a:r>
              <a:rPr sz="2400" spc="-40">
                <a:solidFill>
                  <a:srgbClr val="FFFF00"/>
                </a:solidFill>
              </a:rPr>
              <a:t> </a:t>
            </a:r>
            <a:r>
              <a:rPr sz="2400" dirty="0">
                <a:solidFill>
                  <a:srgbClr val="FFFF00"/>
                </a:solidFill>
              </a:rPr>
              <a:t>HỌC</a:t>
            </a:r>
            <a:r>
              <a:rPr sz="2400" spc="-100" dirty="0">
                <a:solidFill>
                  <a:srgbClr val="FFFF00"/>
                </a:solidFill>
              </a:rPr>
              <a:t> </a:t>
            </a:r>
            <a:r>
              <a:rPr sz="2400">
                <a:solidFill>
                  <a:srgbClr val="FFFF00"/>
                </a:solidFill>
              </a:rPr>
              <a:t>TRÀ</a:t>
            </a:r>
            <a:r>
              <a:rPr sz="2400" spc="-75">
                <a:solidFill>
                  <a:srgbClr val="FFFF00"/>
                </a:solidFill>
              </a:rPr>
              <a:t> </a:t>
            </a:r>
            <a:r>
              <a:rPr sz="2400" spc="-20">
                <a:solidFill>
                  <a:srgbClr val="FFFF00"/>
                </a:solidFill>
              </a:rPr>
              <a:t>VIN</a:t>
            </a:r>
            <a:r>
              <a:rPr lang="vi-VN" sz="2400" spc="-20">
                <a:solidFill>
                  <a:srgbClr val="FFFF00"/>
                </a:solidFill>
              </a:rPr>
              <a:t>H</a:t>
            </a:r>
            <a:br>
              <a:rPr lang="en-US" sz="2400" spc="-20">
                <a:solidFill>
                  <a:srgbClr val="FFFF00"/>
                </a:solidFill>
              </a:rPr>
            </a:br>
            <a:r>
              <a:rPr lang="en-US" sz="2400" spc="-20">
                <a:solidFill>
                  <a:srgbClr val="FFFF00"/>
                </a:solidFill>
              </a:rPr>
              <a:t>TRƯỜNG KỸ THUẬT CÔNG NGHỆ</a:t>
            </a:r>
            <a:endParaRPr sz="2400"/>
          </a:p>
        </p:txBody>
      </p:sp>
      <p:sp>
        <p:nvSpPr>
          <p:cNvPr id="8" name="object 8"/>
          <p:cNvSpPr txBox="1"/>
          <p:nvPr/>
        </p:nvSpPr>
        <p:spPr>
          <a:xfrm>
            <a:off x="2261870" y="1676732"/>
            <a:ext cx="1318260" cy="228268"/>
          </a:xfrm>
          <a:prstGeom prst="rect">
            <a:avLst/>
          </a:prstGeom>
        </p:spPr>
        <p:txBody>
          <a:bodyPr vert="horz" wrap="square" lIns="0" tIns="12700" rIns="0" bIns="0" rtlCol="0">
            <a:spAutoFit/>
          </a:bodyPr>
          <a:lstStyle/>
          <a:p>
            <a:pPr marL="12700" algn="ctr">
              <a:spcBef>
                <a:spcPts val="100"/>
              </a:spcBef>
            </a:pPr>
            <a:r>
              <a:rPr sz="1400" dirty="0">
                <a:solidFill>
                  <a:srgbClr val="FF0000"/>
                </a:solidFill>
                <a:latin typeface="Impact"/>
                <a:cs typeface="Impact"/>
              </a:rPr>
              <a:t>ISO</a:t>
            </a:r>
            <a:r>
              <a:rPr sz="1400" spc="-25" dirty="0">
                <a:solidFill>
                  <a:srgbClr val="FF0000"/>
                </a:solidFill>
                <a:latin typeface="Impact"/>
                <a:cs typeface="Impact"/>
              </a:rPr>
              <a:t> </a:t>
            </a:r>
            <a:r>
              <a:rPr sz="1400" dirty="0">
                <a:solidFill>
                  <a:srgbClr val="FF0000"/>
                </a:solidFill>
                <a:latin typeface="Impact"/>
                <a:cs typeface="Impact"/>
              </a:rPr>
              <a:t>9001:2015</a:t>
            </a:r>
            <a:endParaRPr sz="1400" dirty="0">
              <a:latin typeface="Impact"/>
              <a:cs typeface="Impact"/>
            </a:endParaRPr>
          </a:p>
        </p:txBody>
      </p:sp>
      <p:sp>
        <p:nvSpPr>
          <p:cNvPr id="9" name="object 9"/>
          <p:cNvSpPr txBox="1"/>
          <p:nvPr/>
        </p:nvSpPr>
        <p:spPr>
          <a:xfrm>
            <a:off x="2431770" y="2411207"/>
            <a:ext cx="7321831" cy="1983235"/>
          </a:xfrm>
          <a:prstGeom prst="rect">
            <a:avLst/>
          </a:prstGeom>
        </p:spPr>
        <p:txBody>
          <a:bodyPr vert="horz" wrap="square" lIns="0" tIns="13335" rIns="0" bIns="0" rtlCol="0">
            <a:spAutoFit/>
          </a:bodyPr>
          <a:lstStyle/>
          <a:p>
            <a:pPr algn="ctr"/>
            <a:r>
              <a:rPr lang="en-US" sz="3200" b="1">
                <a:solidFill>
                  <a:srgbClr val="FF0000"/>
                </a:solidFill>
                <a:latin typeface="Times New Roman" panose="02020603050405020304" pitchFamily="18" charset="0"/>
                <a:cs typeface="Times New Roman" panose="02020603050405020304" pitchFamily="18" charset="0"/>
              </a:rPr>
              <a:t>PHÁT TRIỂN ỨNG DỤNG BẢN ĐỒ SỐ HỖ TRỢ SINH VIÊN TÌM PHÒNG HỌC TRONG KHUÔN VIÊN ĐẠI HỌC TRÀ VINH</a:t>
            </a:r>
            <a:endParaRPr lang="vi-VN" sz="3200" b="1" dirty="0">
              <a:solidFill>
                <a:srgbClr val="FF0000"/>
              </a:solidFill>
              <a:latin typeface="Times New Roman" panose="02020603050405020304" pitchFamily="18" charset="0"/>
              <a:cs typeface="Times New Roman" panose="02020603050405020304" pitchFamily="18" charset="0"/>
            </a:endParaRPr>
          </a:p>
        </p:txBody>
      </p:sp>
      <p:sp>
        <p:nvSpPr>
          <p:cNvPr id="10" name="object 10"/>
          <p:cNvSpPr txBox="1"/>
          <p:nvPr/>
        </p:nvSpPr>
        <p:spPr>
          <a:xfrm>
            <a:off x="4556952" y="6442097"/>
            <a:ext cx="3078099" cy="350737"/>
          </a:xfrm>
          <a:prstGeom prst="rect">
            <a:avLst/>
          </a:prstGeom>
        </p:spPr>
        <p:txBody>
          <a:bodyPr vert="horz" wrap="square" lIns="0" tIns="12065" rIns="0" bIns="0" rtlCol="0">
            <a:spAutoFit/>
          </a:bodyPr>
          <a:lstStyle/>
          <a:p>
            <a:pPr marL="12700">
              <a:spcBef>
                <a:spcPts val="95"/>
              </a:spcBef>
            </a:pPr>
            <a:r>
              <a:rPr lang="en-US" sz="2200" i="1" spc="-10" dirty="0" err="1">
                <a:solidFill>
                  <a:srgbClr val="17375E"/>
                </a:solidFill>
                <a:latin typeface="Times New Roman"/>
                <a:cs typeface="Times New Roman"/>
              </a:rPr>
              <a:t>Vĩnh</a:t>
            </a:r>
            <a:r>
              <a:rPr lang="en-US" sz="2200" i="1" spc="-10" dirty="0">
                <a:solidFill>
                  <a:srgbClr val="17375E"/>
                </a:solidFill>
                <a:latin typeface="Times New Roman"/>
                <a:cs typeface="Times New Roman"/>
              </a:rPr>
              <a:t> Long</a:t>
            </a:r>
            <a:r>
              <a:rPr sz="2200" i="1" spc="-20" dirty="0">
                <a:solidFill>
                  <a:srgbClr val="17375E"/>
                </a:solidFill>
                <a:latin typeface="Times New Roman"/>
                <a:cs typeface="Times New Roman"/>
              </a:rPr>
              <a:t>,</a:t>
            </a:r>
            <a:r>
              <a:rPr sz="2200" i="1" spc="-90" dirty="0">
                <a:solidFill>
                  <a:srgbClr val="17375E"/>
                </a:solidFill>
                <a:latin typeface="Times New Roman"/>
                <a:cs typeface="Times New Roman"/>
              </a:rPr>
              <a:t> </a:t>
            </a:r>
            <a:r>
              <a:rPr sz="2200" i="1" err="1">
                <a:solidFill>
                  <a:srgbClr val="17375E"/>
                </a:solidFill>
                <a:latin typeface="Times New Roman"/>
                <a:cs typeface="Times New Roman"/>
              </a:rPr>
              <a:t>tháng</a:t>
            </a:r>
            <a:r>
              <a:rPr sz="2200" i="1" spc="-90">
                <a:solidFill>
                  <a:srgbClr val="17375E"/>
                </a:solidFill>
                <a:latin typeface="Times New Roman"/>
                <a:cs typeface="Times New Roman"/>
              </a:rPr>
              <a:t> </a:t>
            </a:r>
            <a:r>
              <a:rPr lang="en-US" sz="2200" i="1" spc="-10" dirty="0">
                <a:solidFill>
                  <a:srgbClr val="17375E"/>
                </a:solidFill>
                <a:latin typeface="Times New Roman"/>
                <a:cs typeface="Times New Roman"/>
              </a:rPr>
              <a:t>6</a:t>
            </a:r>
            <a:r>
              <a:rPr sz="2200" i="1" spc="-10">
                <a:solidFill>
                  <a:srgbClr val="17375E"/>
                </a:solidFill>
                <a:latin typeface="Times New Roman"/>
                <a:cs typeface="Times New Roman"/>
              </a:rPr>
              <a:t>/</a:t>
            </a:r>
            <a:r>
              <a:rPr lang="vi-VN" sz="2200" i="1" spc="-10">
                <a:solidFill>
                  <a:srgbClr val="17375E"/>
                </a:solidFill>
                <a:latin typeface="Times New Roman"/>
                <a:cs typeface="Times New Roman"/>
              </a:rPr>
              <a:t>202</a:t>
            </a:r>
            <a:r>
              <a:rPr lang="en-US" sz="2200" i="1" spc="-10">
                <a:solidFill>
                  <a:srgbClr val="17375E"/>
                </a:solidFill>
                <a:latin typeface="Times New Roman"/>
                <a:cs typeface="Times New Roman"/>
              </a:rPr>
              <a:t>6</a:t>
            </a:r>
            <a:endParaRPr sz="2200" dirty="0">
              <a:latin typeface="Times New Roman"/>
              <a:cs typeface="Times New Roman"/>
            </a:endParaRPr>
          </a:p>
        </p:txBody>
      </p:sp>
      <p:sp>
        <p:nvSpPr>
          <p:cNvPr id="11" name="Hộp Văn bản 10">
            <a:extLst>
              <a:ext uri="{FF2B5EF4-FFF2-40B4-BE49-F238E27FC236}">
                <a16:creationId xmlns:a16="http://schemas.microsoft.com/office/drawing/2014/main" id="{F3CEEC1D-5513-B033-B3E5-24F99D45E3C7}"/>
              </a:ext>
            </a:extLst>
          </p:cNvPr>
          <p:cNvSpPr txBox="1"/>
          <p:nvPr/>
        </p:nvSpPr>
        <p:spPr>
          <a:xfrm>
            <a:off x="2200275" y="4748630"/>
            <a:ext cx="3657600" cy="831318"/>
          </a:xfrm>
          <a:prstGeom prst="rect">
            <a:avLst/>
          </a:prstGeom>
          <a:noFill/>
        </p:spPr>
        <p:txBody>
          <a:bodyPr wrap="square" rtlCol="0">
            <a:spAutoFit/>
          </a:bodyPr>
          <a:lstStyle/>
          <a:p>
            <a:pPr>
              <a:lnSpc>
                <a:spcPct val="107000"/>
              </a:lnSpc>
              <a:spcAft>
                <a:spcPts val="800"/>
              </a:spcAft>
              <a:buSzPts val="1000"/>
              <a:tabLst>
                <a:tab pos="457200" algn="l"/>
              </a:tabLst>
            </a:pPr>
            <a:r>
              <a:rPr lang="vi-VN" sz="2000" dirty="0">
                <a:latin typeface="+mj-lt"/>
              </a:rPr>
              <a:t>Giáo viên hướng dẫn</a:t>
            </a:r>
            <a:r>
              <a:rPr lang="vi-VN" sz="2000">
                <a:latin typeface="+mj-lt"/>
              </a:rPr>
              <a:t>: </a:t>
            </a:r>
            <a:endParaRPr lang="en-US" sz="2000">
              <a:latin typeface="+mj-lt"/>
            </a:endParaRPr>
          </a:p>
          <a:p>
            <a:pPr>
              <a:lnSpc>
                <a:spcPct val="107000"/>
              </a:lnSpc>
              <a:spcAft>
                <a:spcPts val="800"/>
              </a:spcAft>
              <a:buSzPts val="1000"/>
              <a:tabLst>
                <a:tab pos="457200" algn="l"/>
              </a:tabLst>
            </a:pPr>
            <a:r>
              <a:rPr lang="vi-VN" sz="2000" b="1">
                <a:latin typeface="+mj-lt"/>
              </a:rPr>
              <a:t>TS. </a:t>
            </a:r>
            <a:r>
              <a:rPr lang="en-US" sz="2000" b="1">
                <a:latin typeface="Times New Roman" panose="02020603050405020304" pitchFamily="18" charset="0"/>
                <a:cs typeface="Times New Roman" panose="02020603050405020304" pitchFamily="18" charset="0"/>
              </a:rPr>
              <a:t>THẠCH KỌNG SAOANE</a:t>
            </a:r>
            <a:endParaRPr lang="en-US" sz="2000" b="1" dirty="0">
              <a:latin typeface="Times New Roman" panose="02020603050405020304" pitchFamily="18" charset="0"/>
              <a:cs typeface="Times New Roman" panose="02020603050405020304" pitchFamily="18" charset="0"/>
            </a:endParaRPr>
          </a:p>
        </p:txBody>
      </p:sp>
      <p:sp>
        <p:nvSpPr>
          <p:cNvPr id="12" name="object 9">
            <a:extLst>
              <a:ext uri="{FF2B5EF4-FFF2-40B4-BE49-F238E27FC236}">
                <a16:creationId xmlns:a16="http://schemas.microsoft.com/office/drawing/2014/main" id="{D7A5ED13-7E22-544B-5B1F-69C20183219C}"/>
              </a:ext>
            </a:extLst>
          </p:cNvPr>
          <p:cNvSpPr txBox="1"/>
          <p:nvPr/>
        </p:nvSpPr>
        <p:spPr>
          <a:xfrm>
            <a:off x="3048000" y="1872742"/>
            <a:ext cx="6096000" cy="505908"/>
          </a:xfrm>
          <a:prstGeom prst="rect">
            <a:avLst/>
          </a:prstGeom>
        </p:spPr>
        <p:txBody>
          <a:bodyPr vert="horz" wrap="square" lIns="0" tIns="13335" rIns="0" bIns="0" rtlCol="0">
            <a:spAutoFit/>
          </a:bodyPr>
          <a:lstStyle/>
          <a:p>
            <a:pPr algn="ctr"/>
            <a:r>
              <a:rPr lang="en-US" sz="3200" b="1" dirty="0" err="1">
                <a:solidFill>
                  <a:srgbClr val="FF0000"/>
                </a:solidFill>
                <a:latin typeface="Times New Roman" panose="02020603050405020304" pitchFamily="18" charset="0"/>
                <a:cs typeface="Times New Roman" panose="02020603050405020304" pitchFamily="18" charset="0"/>
              </a:rPr>
              <a:t>ĐỒ</a:t>
            </a:r>
            <a:r>
              <a:rPr lang="en-US" sz="3200" b="1" dirty="0">
                <a:solidFill>
                  <a:srgbClr val="FF0000"/>
                </a:solidFill>
                <a:latin typeface="Times New Roman" panose="02020603050405020304" pitchFamily="18" charset="0"/>
                <a:cs typeface="Times New Roman" panose="02020603050405020304" pitchFamily="18" charset="0"/>
              </a:rPr>
              <a:t> </a:t>
            </a:r>
            <a:r>
              <a:rPr lang="en-US" sz="3200" b="1" err="1">
                <a:solidFill>
                  <a:srgbClr val="FF0000"/>
                </a:solidFill>
                <a:latin typeface="Times New Roman" panose="02020603050405020304" pitchFamily="18" charset="0"/>
                <a:cs typeface="Times New Roman" panose="02020603050405020304" pitchFamily="18" charset="0"/>
              </a:rPr>
              <a:t>ÁN</a:t>
            </a:r>
            <a:r>
              <a:rPr lang="en-US" sz="3200" b="1">
                <a:solidFill>
                  <a:srgbClr val="FF0000"/>
                </a:solidFill>
                <a:latin typeface="Times New Roman" panose="02020603050405020304" pitchFamily="18" charset="0"/>
                <a:cs typeface="Times New Roman" panose="02020603050405020304" pitchFamily="18" charset="0"/>
              </a:rPr>
              <a:t> </a:t>
            </a:r>
          </a:p>
        </p:txBody>
      </p:sp>
      <p:sp>
        <p:nvSpPr>
          <p:cNvPr id="13" name="TextBox 12">
            <a:extLst>
              <a:ext uri="{FF2B5EF4-FFF2-40B4-BE49-F238E27FC236}">
                <a16:creationId xmlns:a16="http://schemas.microsoft.com/office/drawing/2014/main" id="{58BB35B7-2C08-1521-939E-76EF595F3224}"/>
              </a:ext>
            </a:extLst>
          </p:cNvPr>
          <p:cNvSpPr txBox="1"/>
          <p:nvPr/>
        </p:nvSpPr>
        <p:spPr>
          <a:xfrm>
            <a:off x="6934201" y="4717099"/>
            <a:ext cx="3496679" cy="861774"/>
          </a:xfrm>
          <a:prstGeom prst="rect">
            <a:avLst/>
          </a:prstGeom>
          <a:noFill/>
        </p:spPr>
        <p:txBody>
          <a:bodyPr wrap="square" rtlCol="0">
            <a:spAutoFit/>
          </a:bodyPr>
          <a:lstStyle/>
          <a:p>
            <a:pPr>
              <a:spcBef>
                <a:spcPts val="600"/>
              </a:spcBef>
              <a:spcAft>
                <a:spcPts val="600"/>
              </a:spcAft>
            </a:pPr>
            <a:r>
              <a:rPr lang="en-US" sz="2000">
                <a:latin typeface="Times New Roman" panose="02020603050405020304" pitchFamily="18" charset="0"/>
                <a:cs typeface="Times New Roman" panose="02020603050405020304" pitchFamily="18" charset="0"/>
              </a:rPr>
              <a:t>Sinh viên thực hiện:</a:t>
            </a:r>
          </a:p>
          <a:p>
            <a:pPr>
              <a:spcBef>
                <a:spcPts val="600"/>
              </a:spcBef>
              <a:spcAft>
                <a:spcPts val="600"/>
              </a:spcAft>
            </a:pPr>
            <a:r>
              <a:rPr lang="en-US" sz="2000" b="1">
                <a:latin typeface="Times New Roman" panose="02020603050405020304" pitchFamily="18" charset="0"/>
                <a:cs typeface="Times New Roman" panose="02020603050405020304" pitchFamily="18" charset="0"/>
              </a:rPr>
              <a:t>MAI TRẦN THANH NHẬT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EE10661-6195-15D9-1ED1-F916C67670E9}"/>
              </a:ext>
            </a:extLst>
          </p:cNvPr>
          <p:cNvSpPr>
            <a:spLocks noGrp="1"/>
          </p:cNvSpPr>
          <p:nvPr>
            <p:ph type="title"/>
          </p:nvPr>
        </p:nvSpPr>
        <p:spPr>
          <a:xfrm>
            <a:off x="2423413" y="120778"/>
            <a:ext cx="7345172" cy="869061"/>
          </a:xfrm>
        </p:spPr>
        <p:txBody>
          <a:bodyPr wrap="square" lIns="0" tIns="0" rIns="0" bIns="0">
            <a:normAutofit/>
          </a:bodyPr>
          <a:lstStyle/>
          <a:p>
            <a:r>
              <a:rPr lang="en-US" b="1" i="0">
                <a:latin typeface="Times New Roman"/>
                <a:ea typeface="+mj-ea"/>
                <a:cs typeface="Times New Roman"/>
              </a:rPr>
              <a:t>TỔNG QUAN ĐỀ TÀI</a:t>
            </a:r>
          </a:p>
        </p:txBody>
      </p:sp>
      <p:sp>
        <p:nvSpPr>
          <p:cNvPr id="5" name="TextBox 4">
            <a:extLst>
              <a:ext uri="{FF2B5EF4-FFF2-40B4-BE49-F238E27FC236}">
                <a16:creationId xmlns:a16="http://schemas.microsoft.com/office/drawing/2014/main" id="{3F31FC46-D2DE-9A2F-E4CB-CBF4BAE3C84B}"/>
              </a:ext>
            </a:extLst>
          </p:cNvPr>
          <p:cNvSpPr txBox="1"/>
          <p:nvPr/>
        </p:nvSpPr>
        <p:spPr>
          <a:xfrm>
            <a:off x="1905001" y="1356970"/>
            <a:ext cx="8257921" cy="4891431"/>
          </a:xfrm>
          <a:prstGeom prst="rect">
            <a:avLst/>
          </a:prstGeom>
        </p:spPr>
        <p:txBody>
          <a:bodyPr wrap="square" lIns="0" tIns="0" rIns="0" bIns="0" rtlCol="0">
            <a:normAutofit/>
          </a:bodyPr>
          <a:lstStyle/>
          <a:p>
            <a:pPr>
              <a:spcAft>
                <a:spcPts val="600"/>
              </a:spcAft>
            </a:pPr>
            <a:endParaRPr lang="en-US" sz="2400">
              <a:solidFill>
                <a:schemeClr val="tx1"/>
              </a:solidFill>
              <a:latin typeface="Times New Roman"/>
              <a:ea typeface="+mn-ea"/>
              <a:cs typeface="Times New Roman"/>
            </a:endParaRPr>
          </a:p>
        </p:txBody>
      </p:sp>
      <p:sp>
        <p:nvSpPr>
          <p:cNvPr id="2" name="TextBox 1">
            <a:extLst>
              <a:ext uri="{FF2B5EF4-FFF2-40B4-BE49-F238E27FC236}">
                <a16:creationId xmlns:a16="http://schemas.microsoft.com/office/drawing/2014/main" id="{D7DEB934-3910-B83F-5728-8AE6BC2A521B}"/>
              </a:ext>
            </a:extLst>
          </p:cNvPr>
          <p:cNvSpPr txBox="1"/>
          <p:nvPr/>
        </p:nvSpPr>
        <p:spPr>
          <a:xfrm>
            <a:off x="457200" y="1355198"/>
            <a:ext cx="11277600" cy="5107873"/>
          </a:xfrm>
          <a:prstGeom prst="rect">
            <a:avLst/>
          </a:prstGeom>
          <a:noFill/>
        </p:spPr>
        <p:txBody>
          <a:bodyPr wrap="square" rtlCol="0">
            <a:spAutoFit/>
          </a:bodyPr>
          <a:lstStyle/>
          <a:p>
            <a:pPr>
              <a:lnSpc>
                <a:spcPct val="150000"/>
              </a:lnSpc>
            </a:pPr>
            <a:r>
              <a:rPr lang="vi-VN" sz="2200" b="1">
                <a:latin typeface="+mn-lt"/>
              </a:rPr>
              <a:t>Lý do chọn đề tài:</a:t>
            </a:r>
            <a:endParaRPr lang="vi-VN" sz="2200">
              <a:latin typeface="+mn-lt"/>
            </a:endParaRPr>
          </a:p>
          <a:p>
            <a:pPr marL="285750" lvl="1" indent="-285750">
              <a:lnSpc>
                <a:spcPct val="150000"/>
              </a:lnSpc>
              <a:buFont typeface="Wingdings" panose="05000000000000000000" pitchFamily="2" charset="2"/>
              <a:buChar char="v"/>
            </a:pPr>
            <a:r>
              <a:rPr lang="vi-VN" sz="2200">
                <a:latin typeface="+mn-lt"/>
              </a:rPr>
              <a:t>Khuôn viên trường ĐH Trà Vinh rộng lớn, có nhiều tòa nhà, khu tiện ích khiến sinh viên mới và khách tham quan khó khăn trong việc tìm kiếm phòng học, gây mất thời gian.</a:t>
            </a:r>
          </a:p>
          <a:p>
            <a:pPr marL="285750" lvl="1" indent="-285750">
              <a:lnSpc>
                <a:spcPct val="150000"/>
              </a:lnSpc>
              <a:buFont typeface="Wingdings" panose="05000000000000000000" pitchFamily="2" charset="2"/>
              <a:buChar char="v"/>
            </a:pPr>
            <a:r>
              <a:rPr lang="vi-VN" sz="2200">
                <a:latin typeface="+mn-lt"/>
              </a:rPr>
              <a:t>Các bản đồ 2D truyền thống thiếu tính tương tác và định tuyến, trong khi Google Maps không có chi tiết sơ đồ nội khu và sơ đồ từng phòng học.</a:t>
            </a:r>
          </a:p>
          <a:p>
            <a:pPr>
              <a:lnSpc>
                <a:spcPct val="150000"/>
              </a:lnSpc>
            </a:pPr>
            <a:r>
              <a:rPr lang="vi-VN" sz="2200" b="1">
                <a:latin typeface="+mn-lt"/>
              </a:rPr>
              <a:t>Mục tiêu nghiên cứu:</a:t>
            </a:r>
            <a:endParaRPr lang="vi-VN" sz="2200">
              <a:latin typeface="+mn-lt"/>
            </a:endParaRPr>
          </a:p>
          <a:p>
            <a:pPr marL="285750" lvl="1" indent="-285750">
              <a:lnSpc>
                <a:spcPct val="150000"/>
              </a:lnSpc>
              <a:buFont typeface="Wingdings" panose="05000000000000000000" pitchFamily="2" charset="2"/>
              <a:buChar char="v"/>
            </a:pPr>
            <a:r>
              <a:rPr lang="vi-VN" sz="2200">
                <a:latin typeface="+mn-lt"/>
              </a:rPr>
              <a:t>Số hóa toàn bộ sơ đồ các tòa nhà, phòng học và hạ tầng giao thông nội khu ĐH Trà Vinh.</a:t>
            </a:r>
          </a:p>
          <a:p>
            <a:pPr marL="285750" lvl="1" indent="-285750">
              <a:lnSpc>
                <a:spcPct val="150000"/>
              </a:lnSpc>
              <a:buFont typeface="Wingdings" panose="05000000000000000000" pitchFamily="2" charset="2"/>
              <a:buChar char="v"/>
            </a:pPr>
            <a:r>
              <a:rPr lang="vi-VN" sz="2200">
                <a:latin typeface="+mn-lt"/>
              </a:rPr>
              <a:t>Xây dựng hệ thống bản đồ số chuyên biệt (WebApp) hỗ trợ tra cứu vị trí và chỉ đường để giải quyết triệt để khó khăn trong việc di chuyển của sinh viên.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56B4A-BB78-6762-83B5-E3EA1B7138A8}"/>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AA7D09F9-4BD3-40C2-BAE5-A05CF0184EB2}"/>
              </a:ext>
            </a:extLst>
          </p:cNvPr>
          <p:cNvSpPr>
            <a:spLocks noGrp="1"/>
          </p:cNvSpPr>
          <p:nvPr>
            <p:ph type="title"/>
          </p:nvPr>
        </p:nvSpPr>
        <p:spPr>
          <a:xfrm>
            <a:off x="2423413" y="120778"/>
            <a:ext cx="7345172" cy="869061"/>
          </a:xfrm>
        </p:spPr>
        <p:txBody>
          <a:bodyPr wrap="square" lIns="0" tIns="0" rIns="0" bIns="0">
            <a:normAutofit/>
          </a:bodyPr>
          <a:lstStyle/>
          <a:p>
            <a:r>
              <a:rPr lang="en-US" b="1" i="0">
                <a:latin typeface="Times New Roman"/>
                <a:ea typeface="+mj-ea"/>
                <a:cs typeface="Times New Roman"/>
              </a:rPr>
              <a:t>TỔNG QUAN ĐỀ TÀI</a:t>
            </a:r>
          </a:p>
        </p:txBody>
      </p:sp>
      <p:sp>
        <p:nvSpPr>
          <p:cNvPr id="5" name="TextBox 4">
            <a:extLst>
              <a:ext uri="{FF2B5EF4-FFF2-40B4-BE49-F238E27FC236}">
                <a16:creationId xmlns:a16="http://schemas.microsoft.com/office/drawing/2014/main" id="{29863A86-FAC4-988F-49BB-9F55053A30F3}"/>
              </a:ext>
            </a:extLst>
          </p:cNvPr>
          <p:cNvSpPr txBox="1"/>
          <p:nvPr/>
        </p:nvSpPr>
        <p:spPr>
          <a:xfrm>
            <a:off x="1905001" y="1356970"/>
            <a:ext cx="8257921" cy="4891431"/>
          </a:xfrm>
          <a:prstGeom prst="rect">
            <a:avLst/>
          </a:prstGeom>
        </p:spPr>
        <p:txBody>
          <a:bodyPr wrap="square" lIns="0" tIns="0" rIns="0" bIns="0" rtlCol="0">
            <a:normAutofit/>
          </a:bodyPr>
          <a:lstStyle/>
          <a:p>
            <a:pPr>
              <a:spcAft>
                <a:spcPts val="600"/>
              </a:spcAft>
            </a:pPr>
            <a:endParaRPr lang="en-US" sz="2400">
              <a:solidFill>
                <a:schemeClr val="tx1"/>
              </a:solidFill>
              <a:latin typeface="Times New Roman"/>
              <a:ea typeface="+mn-ea"/>
              <a:cs typeface="Times New Roman"/>
            </a:endParaRPr>
          </a:p>
        </p:txBody>
      </p:sp>
      <p:sp>
        <p:nvSpPr>
          <p:cNvPr id="2" name="TextBox 1">
            <a:extLst>
              <a:ext uri="{FF2B5EF4-FFF2-40B4-BE49-F238E27FC236}">
                <a16:creationId xmlns:a16="http://schemas.microsoft.com/office/drawing/2014/main" id="{B9DE0905-4F82-8464-59A5-953ABB68750F}"/>
              </a:ext>
            </a:extLst>
          </p:cNvPr>
          <p:cNvSpPr txBox="1"/>
          <p:nvPr/>
        </p:nvSpPr>
        <p:spPr>
          <a:xfrm>
            <a:off x="685800" y="1143001"/>
            <a:ext cx="11353799" cy="5107873"/>
          </a:xfrm>
          <a:prstGeom prst="rect">
            <a:avLst/>
          </a:prstGeom>
          <a:noFill/>
        </p:spPr>
        <p:txBody>
          <a:bodyPr wrap="square" rtlCol="0">
            <a:spAutoFit/>
          </a:bodyPr>
          <a:lstStyle/>
          <a:p>
            <a:pPr>
              <a:lnSpc>
                <a:spcPct val="150000"/>
              </a:lnSpc>
            </a:pPr>
            <a:r>
              <a:rPr lang="vi-VN" sz="2200" b="1">
                <a:latin typeface="+mn-lt"/>
              </a:rPr>
              <a:t>Nội dung nghiên cứu:</a:t>
            </a:r>
            <a:endParaRPr lang="vi-VN" sz="2200">
              <a:latin typeface="+mn-lt"/>
            </a:endParaRPr>
          </a:p>
          <a:p>
            <a:pPr marL="342900" lvl="1" indent="-342900">
              <a:lnSpc>
                <a:spcPct val="150000"/>
              </a:lnSpc>
              <a:buFont typeface="Arial" panose="020B0604020202020204" pitchFamily="34" charset="0"/>
              <a:buChar char="•"/>
            </a:pPr>
            <a:r>
              <a:rPr lang="vi-VN" sz="2200">
                <a:latin typeface="+mn-lt"/>
              </a:rPr>
              <a:t>Khảo sát, thu thập dữ liệu (tọa độ GPS, định danh phòng học).</a:t>
            </a:r>
          </a:p>
          <a:p>
            <a:pPr marL="342900" lvl="1" indent="-342900">
              <a:lnSpc>
                <a:spcPct val="150000"/>
              </a:lnSpc>
              <a:buFont typeface="Arial" panose="020B0604020202020204" pitchFamily="34" charset="0"/>
              <a:buChar char="•"/>
            </a:pPr>
            <a:r>
              <a:rPr lang="vi-VN" sz="2200">
                <a:latin typeface="+mn-lt"/>
              </a:rPr>
              <a:t>Thiết kế hệ thống Frontend (Vue.js) và Backend (Node.js, PostgreSQL/PostGIS).</a:t>
            </a:r>
          </a:p>
          <a:p>
            <a:pPr marL="342900" lvl="1" indent="-342900">
              <a:lnSpc>
                <a:spcPct val="150000"/>
              </a:lnSpc>
              <a:buFont typeface="Arial" panose="020B0604020202020204" pitchFamily="34" charset="0"/>
              <a:buChar char="•"/>
            </a:pPr>
            <a:r>
              <a:rPr lang="vi-VN" sz="2200">
                <a:latin typeface="+mn-lt"/>
              </a:rPr>
              <a:t>Phát triển tính năng: Tích hợp bản đồ Leaflet và module chỉ đường bằng thuật toán A*.</a:t>
            </a:r>
          </a:p>
          <a:p>
            <a:pPr>
              <a:lnSpc>
                <a:spcPct val="150000"/>
              </a:lnSpc>
            </a:pPr>
            <a:r>
              <a:rPr lang="vi-VN" sz="2200" b="1">
                <a:latin typeface="+mn-lt"/>
              </a:rPr>
              <a:t>Phương pháp nghiên cứu:</a:t>
            </a:r>
            <a:endParaRPr lang="vi-VN" sz="2200">
              <a:latin typeface="+mn-lt"/>
            </a:endParaRPr>
          </a:p>
          <a:p>
            <a:pPr marL="342900" lvl="1" indent="-342900">
              <a:lnSpc>
                <a:spcPct val="150000"/>
              </a:lnSpc>
              <a:buFont typeface="Arial" panose="020B0604020202020204" pitchFamily="34" charset="0"/>
              <a:buChar char="•"/>
            </a:pPr>
            <a:r>
              <a:rPr lang="vi-VN" sz="2200" b="1">
                <a:latin typeface="+mn-lt"/>
              </a:rPr>
              <a:t>Nghiên cứu lý thuyết:</a:t>
            </a:r>
            <a:r>
              <a:rPr lang="vi-VN" sz="2200">
                <a:latin typeface="+mn-lt"/>
              </a:rPr>
              <a:t> Nghiên cứu về hệ thống GIS, thuật toán </a:t>
            </a:r>
            <a:r>
              <a:rPr lang="en-US" sz="2200">
                <a:latin typeface="Arial" panose="020B0604020202020204" pitchFamily="34" charset="0"/>
                <a:cs typeface="Arial" panose="020B0604020202020204" pitchFamily="34" charset="0"/>
              </a:rPr>
              <a:t>tìm đường A*</a:t>
            </a:r>
            <a:r>
              <a:rPr lang="vi-VN" sz="2200">
                <a:latin typeface="+mn-lt"/>
                <a:cs typeface="Arial" panose="020B0604020202020204" pitchFamily="34" charset="0"/>
              </a:rPr>
              <a:t>.</a:t>
            </a:r>
          </a:p>
          <a:p>
            <a:pPr marL="342900" lvl="1" indent="-342900">
              <a:lnSpc>
                <a:spcPct val="150000"/>
              </a:lnSpc>
              <a:buFont typeface="Arial" panose="020B0604020202020204" pitchFamily="34" charset="0"/>
              <a:buChar char="•"/>
            </a:pPr>
            <a:r>
              <a:rPr lang="vi-VN" sz="2200" b="1">
                <a:latin typeface="+mn-lt"/>
              </a:rPr>
              <a:t>Khảo sát thực địa:</a:t>
            </a:r>
            <a:r>
              <a:rPr lang="vi-VN" sz="2200">
                <a:latin typeface="+mn-lt"/>
              </a:rPr>
              <a:t> Thu thập tọa độ GPS các tuyến đường và định danh thông tin các tòa nhà, phòng học.</a:t>
            </a:r>
          </a:p>
          <a:p>
            <a:pPr marL="342900" lvl="1" indent="-342900">
              <a:lnSpc>
                <a:spcPct val="150000"/>
              </a:lnSpc>
              <a:buFont typeface="Arial" panose="020B0604020202020204" pitchFamily="34" charset="0"/>
              <a:buChar char="•"/>
            </a:pPr>
            <a:r>
              <a:rPr lang="vi-VN" sz="2200" b="1">
                <a:latin typeface="+mn-lt"/>
              </a:rPr>
              <a:t>Phân tích và thiết kế:</a:t>
            </a:r>
            <a:r>
              <a:rPr lang="vi-VN" sz="2200">
                <a:latin typeface="+mn-lt"/>
              </a:rPr>
              <a:t> Thiết kế cơ sở dữ liệu và kiến trúc hệ thống MVC.</a:t>
            </a:r>
          </a:p>
          <a:p>
            <a:pPr marL="342900" lvl="1" indent="-342900">
              <a:lnSpc>
                <a:spcPct val="150000"/>
              </a:lnSpc>
              <a:buFont typeface="Arial" panose="020B0604020202020204" pitchFamily="34" charset="0"/>
              <a:buChar char="•"/>
            </a:pPr>
            <a:r>
              <a:rPr lang="vi-VN" sz="2200" b="1">
                <a:latin typeface="+mn-lt"/>
              </a:rPr>
              <a:t>Thử nghiệm thực tế:</a:t>
            </a:r>
            <a:r>
              <a:rPr lang="vi-VN" sz="2200">
                <a:latin typeface="+mn-lt"/>
              </a:rPr>
              <a:t> Xây dựng, đo lường độ trễ và tối ưu hiệu năng.</a:t>
            </a:r>
          </a:p>
        </p:txBody>
      </p:sp>
    </p:spTree>
    <p:extLst>
      <p:ext uri="{BB962C8B-B14F-4D97-AF65-F5344CB8AC3E}">
        <p14:creationId xmlns:p14="http://schemas.microsoft.com/office/powerpoint/2010/main" val="1816134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D333E-C671-401C-8F6D-29262A3CBA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9E51C9-7944-DDF4-7931-4D8436B001C8}"/>
              </a:ext>
            </a:extLst>
          </p:cNvPr>
          <p:cNvSpPr>
            <a:spLocks noGrp="1"/>
          </p:cNvSpPr>
          <p:nvPr>
            <p:ph type="title"/>
          </p:nvPr>
        </p:nvSpPr>
        <p:spPr>
          <a:xfrm>
            <a:off x="2423413" y="120777"/>
            <a:ext cx="7345172" cy="553998"/>
          </a:xfrm>
        </p:spPr>
        <p:txBody>
          <a:bodyPr/>
          <a:lstStyle/>
          <a:p>
            <a:r>
              <a:rPr lang="en-US"/>
              <a:t>CƠ SỞ LÝ THUYẾT CHUNG</a:t>
            </a:r>
            <a:endParaRPr lang="vi-VN"/>
          </a:p>
        </p:txBody>
      </p:sp>
      <p:sp>
        <p:nvSpPr>
          <p:cNvPr id="4" name="TextBox 3">
            <a:extLst>
              <a:ext uri="{FF2B5EF4-FFF2-40B4-BE49-F238E27FC236}">
                <a16:creationId xmlns:a16="http://schemas.microsoft.com/office/drawing/2014/main" id="{5E031E5F-AD8E-DB31-7DAA-69EF600723AE}"/>
              </a:ext>
            </a:extLst>
          </p:cNvPr>
          <p:cNvSpPr txBox="1"/>
          <p:nvPr/>
        </p:nvSpPr>
        <p:spPr>
          <a:xfrm>
            <a:off x="304800" y="1447801"/>
            <a:ext cx="11506200" cy="4431983"/>
          </a:xfrm>
          <a:prstGeom prst="rect">
            <a:avLst/>
          </a:prstGeom>
          <a:noFill/>
        </p:spPr>
        <p:txBody>
          <a:bodyPr wrap="square" rtlCol="0">
            <a:spAutoFit/>
          </a:bodyPr>
          <a:lstStyle/>
          <a:p>
            <a:pPr marL="285750" indent="-285750">
              <a:lnSpc>
                <a:spcPct val="150000"/>
              </a:lnSpc>
              <a:buFont typeface="Wingdings" panose="05000000000000000000" pitchFamily="2" charset="2"/>
              <a:buChar char="v"/>
            </a:pPr>
            <a:r>
              <a:rPr lang="vi-VN" sz="2200" b="1"/>
              <a:t>Mô hình kiến trúc MVC:</a:t>
            </a:r>
            <a:r>
              <a:rPr lang="vi-VN" sz="2200"/>
              <a:t> Phân tách hệ thống thành 3 lớp độc lập: Model (xử lý dữ liệu cơ sở), View (hiển thị giao diện JSON/HTML), Controller (cầu nối điều phối logic) giúp dễ dàng bảo trì và mở rộng hệ thống.</a:t>
            </a:r>
          </a:p>
          <a:p>
            <a:pPr marL="285750" indent="-285750">
              <a:lnSpc>
                <a:spcPct val="150000"/>
              </a:lnSpc>
              <a:buFont typeface="Wingdings" panose="05000000000000000000" pitchFamily="2" charset="2"/>
              <a:buChar char="v"/>
            </a:pPr>
            <a:r>
              <a:rPr lang="vi-VN" sz="2200" b="1"/>
              <a:t>Vue.js:</a:t>
            </a:r>
            <a:r>
              <a:rPr lang="vi-VN" sz="2200"/>
              <a:t> Framework Frontend tiên tiến xây dựng theo hướng Single Page Application (SPA), tích hợp Composition API và phản xạ Virtual DOM, giúp render giao diện siêu tốc không cần tải lại trang.</a:t>
            </a:r>
          </a:p>
          <a:p>
            <a:pPr marL="285750" indent="-285750">
              <a:lnSpc>
                <a:spcPct val="150000"/>
              </a:lnSpc>
              <a:buFont typeface="Wingdings" panose="05000000000000000000" pitchFamily="2" charset="2"/>
              <a:buChar char="v"/>
            </a:pPr>
            <a:r>
              <a:rPr lang="vi-VN" sz="2200" b="1"/>
              <a:t>Node.js:</a:t>
            </a:r>
            <a:r>
              <a:rPr lang="vi-VN" sz="2200"/>
              <a:t> Môi trường thực thi phía Backend, ứng dụng cấu trúc hướng sự kiện (Event-driven, Non-blocking I/O) giúp xử lý tốt các tác vụ gọi truy vấn không gian phức tạp</a:t>
            </a:r>
          </a:p>
          <a:p>
            <a:endParaRPr lang="vi-VN"/>
          </a:p>
        </p:txBody>
      </p:sp>
    </p:spTree>
    <p:extLst>
      <p:ext uri="{BB962C8B-B14F-4D97-AF65-F5344CB8AC3E}">
        <p14:creationId xmlns:p14="http://schemas.microsoft.com/office/powerpoint/2010/main" val="31418922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C0932-1602-51B3-5DA4-484E40184EF5}"/>
              </a:ext>
            </a:extLst>
          </p:cNvPr>
          <p:cNvSpPr>
            <a:spLocks noGrp="1"/>
          </p:cNvSpPr>
          <p:nvPr>
            <p:ph type="title"/>
          </p:nvPr>
        </p:nvSpPr>
        <p:spPr>
          <a:xfrm>
            <a:off x="2423413" y="120777"/>
            <a:ext cx="7345172" cy="553998"/>
          </a:xfrm>
        </p:spPr>
        <p:txBody>
          <a:bodyPr/>
          <a:lstStyle/>
          <a:p>
            <a:r>
              <a:rPr lang="en-US"/>
              <a:t>CƠ SỞ LÝ THUYẾT CHUNG</a:t>
            </a:r>
            <a:endParaRPr lang="vi-VN"/>
          </a:p>
        </p:txBody>
      </p:sp>
      <p:sp>
        <p:nvSpPr>
          <p:cNvPr id="3" name="TextBox 2">
            <a:extLst>
              <a:ext uri="{FF2B5EF4-FFF2-40B4-BE49-F238E27FC236}">
                <a16:creationId xmlns:a16="http://schemas.microsoft.com/office/drawing/2014/main" id="{6AEACDB1-110A-1F40-4158-E1105270F4D0}"/>
              </a:ext>
            </a:extLst>
          </p:cNvPr>
          <p:cNvSpPr txBox="1"/>
          <p:nvPr/>
        </p:nvSpPr>
        <p:spPr>
          <a:xfrm>
            <a:off x="381000" y="1600201"/>
            <a:ext cx="11353800" cy="4431983"/>
          </a:xfrm>
          <a:prstGeom prst="rect">
            <a:avLst/>
          </a:prstGeom>
          <a:noFill/>
        </p:spPr>
        <p:txBody>
          <a:bodyPr wrap="square" rtlCol="0">
            <a:spAutoFit/>
          </a:bodyPr>
          <a:lstStyle/>
          <a:p>
            <a:pPr>
              <a:lnSpc>
                <a:spcPct val="150000"/>
              </a:lnSpc>
            </a:pPr>
            <a:r>
              <a:rPr lang="en-US" sz="2200" b="1">
                <a:latin typeface="Arial" panose="020B0604020202020204" pitchFamily="34" charset="0"/>
                <a:cs typeface="Arial" panose="020B0604020202020204" pitchFamily="34" charset="0"/>
              </a:rPr>
              <a:t>Thuật toán A*: </a:t>
            </a:r>
            <a:r>
              <a:rPr lang="en-US" sz="2200" i="1">
                <a:latin typeface="Arial" panose="020B0604020202020204" pitchFamily="34" charset="0"/>
                <a:cs typeface="Arial" panose="020B0604020202020204" pitchFamily="34" charset="0"/>
              </a:rPr>
              <a:t>A</a:t>
            </a:r>
            <a:r>
              <a:rPr lang="vi-VN" sz="2200">
                <a:latin typeface="Arial" panose="020B0604020202020204" pitchFamily="34" charset="0"/>
                <a:cs typeface="Arial" panose="020B0604020202020204" pitchFamily="34" charset="0"/>
              </a:rPr>
              <a:t>* Là thuật toán tìm kiếm có thông tin (Informed Search) dựa trên đồ thị, sử dụng hàm ước lượng để định hướng tìm kiếm, giúp giảm số lượng nút cần duyệt so với tìm kiếm mù.</a:t>
            </a:r>
          </a:p>
          <a:p>
            <a:pPr>
              <a:lnSpc>
                <a:spcPct val="150000"/>
              </a:lnSpc>
            </a:pPr>
            <a:r>
              <a:rPr lang="vi-VN" sz="2200" b="1">
                <a:latin typeface="Arial" panose="020B0604020202020204" pitchFamily="34" charset="0"/>
                <a:cs typeface="Arial" panose="020B0604020202020204" pitchFamily="34" charset="0"/>
              </a:rPr>
              <a:t>Hàm tính toán tổng chi phí (Cost Function):</a:t>
            </a:r>
            <a:endParaRPr lang="vi-VN" sz="2200">
              <a:latin typeface="Arial" panose="020B0604020202020204" pitchFamily="34" charset="0"/>
              <a:cs typeface="Arial" panose="020B0604020202020204" pitchFamily="34" charset="0"/>
            </a:endParaRPr>
          </a:p>
          <a:p>
            <a:pPr lvl="1">
              <a:lnSpc>
                <a:spcPct val="150000"/>
              </a:lnSpc>
            </a:pPr>
            <a:r>
              <a:rPr lang="vi-VN" sz="2200" b="1">
                <a:latin typeface="Arial" panose="020B0604020202020204" pitchFamily="34" charset="0"/>
                <a:cs typeface="Arial" panose="020B0604020202020204" pitchFamily="34" charset="0"/>
              </a:rPr>
              <a:t>Công thức:</a:t>
            </a:r>
            <a:r>
              <a:rPr lang="vi-VN" sz="2200">
                <a:latin typeface="Arial" panose="020B0604020202020204" pitchFamily="34" charset="0"/>
                <a:cs typeface="Arial" panose="020B0604020202020204" pitchFamily="34" charset="0"/>
              </a:rPr>
              <a:t> f(n) = g(n) + h(n).</a:t>
            </a:r>
          </a:p>
          <a:p>
            <a:pPr marL="342900" lvl="1" indent="-342900">
              <a:lnSpc>
                <a:spcPct val="150000"/>
              </a:lnSpc>
              <a:buFont typeface="Arial" panose="020B0604020202020204" pitchFamily="34" charset="0"/>
              <a:buChar char="•"/>
            </a:pPr>
            <a:r>
              <a:rPr lang="vi-VN" sz="2200">
                <a:latin typeface="Arial" panose="020B0604020202020204" pitchFamily="34" charset="0"/>
                <a:cs typeface="Arial" panose="020B0604020202020204" pitchFamily="34" charset="0"/>
              </a:rPr>
              <a:t>g(n): Chi phí thực tế đi từ điểm xuất phát đến nút n.</a:t>
            </a:r>
          </a:p>
          <a:p>
            <a:pPr marL="342900" lvl="1" indent="-342900">
              <a:lnSpc>
                <a:spcPct val="150000"/>
              </a:lnSpc>
              <a:buFont typeface="Arial" panose="020B0604020202020204" pitchFamily="34" charset="0"/>
              <a:buChar char="•"/>
            </a:pPr>
            <a:r>
              <a:rPr lang="vi-VN" sz="2200">
                <a:latin typeface="Arial" panose="020B0604020202020204" pitchFamily="34" charset="0"/>
                <a:cs typeface="Arial" panose="020B0604020202020204" pitchFamily="34" charset="0"/>
              </a:rPr>
              <a:t>h(n): Chi phí ước lượng (Heuristic) từ nút n đến điểm đích (thường dùng khoảng cách đường chim bay Euclid hoặc Manhattan trong bản đồ địa lý).</a:t>
            </a:r>
          </a:p>
          <a:p>
            <a:endParaRPr lang="vi-VN"/>
          </a:p>
        </p:txBody>
      </p:sp>
    </p:spTree>
    <p:extLst>
      <p:ext uri="{BB962C8B-B14F-4D97-AF65-F5344CB8AC3E}">
        <p14:creationId xmlns:p14="http://schemas.microsoft.com/office/powerpoint/2010/main" val="671022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DD18D-AAAB-CEC8-C4C0-85E3C17B11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EA4741-1D48-27D5-CFC2-6AD729DD2A6F}"/>
              </a:ext>
            </a:extLst>
          </p:cNvPr>
          <p:cNvSpPr>
            <a:spLocks noGrp="1"/>
          </p:cNvSpPr>
          <p:nvPr>
            <p:ph type="title"/>
          </p:nvPr>
        </p:nvSpPr>
        <p:spPr>
          <a:xfrm>
            <a:off x="2423413" y="120777"/>
            <a:ext cx="7345172" cy="553998"/>
          </a:xfrm>
        </p:spPr>
        <p:txBody>
          <a:bodyPr/>
          <a:lstStyle/>
          <a:p>
            <a:r>
              <a:rPr lang="en-US"/>
              <a:t>CƠ SỞ LÝ THUYẾT CHUNG</a:t>
            </a:r>
            <a:endParaRPr lang="vi-VN"/>
          </a:p>
        </p:txBody>
      </p:sp>
      <p:sp>
        <p:nvSpPr>
          <p:cNvPr id="7" name="TextBox 6">
            <a:extLst>
              <a:ext uri="{FF2B5EF4-FFF2-40B4-BE49-F238E27FC236}">
                <a16:creationId xmlns:a16="http://schemas.microsoft.com/office/drawing/2014/main" id="{D922A37D-F315-D861-BC44-174B24AFA21C}"/>
              </a:ext>
            </a:extLst>
          </p:cNvPr>
          <p:cNvSpPr txBox="1"/>
          <p:nvPr/>
        </p:nvSpPr>
        <p:spPr>
          <a:xfrm>
            <a:off x="0" y="1828800"/>
            <a:ext cx="4267200" cy="3728649"/>
          </a:xfrm>
          <a:prstGeom prst="rect">
            <a:avLst/>
          </a:prstGeom>
          <a:noFill/>
        </p:spPr>
        <p:txBody>
          <a:bodyPr wrap="square">
            <a:spAutoFit/>
          </a:bodyPr>
          <a:lstStyle/>
          <a:p>
            <a:pPr>
              <a:lnSpc>
                <a:spcPct val="150000"/>
              </a:lnSpc>
            </a:pPr>
            <a:r>
              <a:rPr lang="vi-VN" sz="2000" b="1"/>
              <a:t>So sánh với thuật toán Dijkstra:</a:t>
            </a:r>
          </a:p>
          <a:p>
            <a:pPr marL="285750" lvl="1" indent="-285750">
              <a:lnSpc>
                <a:spcPct val="150000"/>
              </a:lnSpc>
              <a:buFont typeface="Wingdings" panose="05000000000000000000" pitchFamily="2" charset="2"/>
              <a:buChar char="v"/>
            </a:pPr>
            <a:r>
              <a:rPr lang="vi-VN" sz="2000" b="1"/>
              <a:t>Dijkstra:</a:t>
            </a:r>
            <a:r>
              <a:rPr lang="vi-VN" sz="2000"/>
              <a:t> Tìm kiếm đa hướng, loang đều như làn sóng vòng tròn. Luôn đảm bảo tìm được đường đi ngắn nhất nhưng lãng phí tài nguyên tính toán vào các khu vực không liên quan (tương đương A* khi h(n) = 0).</a:t>
            </a:r>
          </a:p>
        </p:txBody>
      </p:sp>
      <p:pic>
        <p:nvPicPr>
          <p:cNvPr id="4" name="Picture 3">
            <a:extLst>
              <a:ext uri="{FF2B5EF4-FFF2-40B4-BE49-F238E27FC236}">
                <a16:creationId xmlns:a16="http://schemas.microsoft.com/office/drawing/2014/main" id="{DDBBB7BC-0F42-246A-83B4-8715519F6BC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91000" y="1563241"/>
            <a:ext cx="7762240" cy="4259766"/>
          </a:xfrm>
          <a:prstGeom prst="rect">
            <a:avLst/>
          </a:prstGeom>
        </p:spPr>
      </p:pic>
    </p:spTree>
    <p:extLst>
      <p:ext uri="{BB962C8B-B14F-4D97-AF65-F5344CB8AC3E}">
        <p14:creationId xmlns:p14="http://schemas.microsoft.com/office/powerpoint/2010/main" val="42249127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FEE40-913B-1CD4-E76C-7EF6822144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996EAA-3DB2-3C51-6C23-247580A69E5B}"/>
              </a:ext>
            </a:extLst>
          </p:cNvPr>
          <p:cNvSpPr>
            <a:spLocks noGrp="1"/>
          </p:cNvSpPr>
          <p:nvPr>
            <p:ph type="title"/>
          </p:nvPr>
        </p:nvSpPr>
        <p:spPr>
          <a:xfrm>
            <a:off x="2423413" y="120777"/>
            <a:ext cx="7345172" cy="553998"/>
          </a:xfrm>
        </p:spPr>
        <p:txBody>
          <a:bodyPr/>
          <a:lstStyle/>
          <a:p>
            <a:r>
              <a:rPr lang="en-US"/>
              <a:t>CƠ SỞ LÝ THUYẾT CHUNG</a:t>
            </a:r>
            <a:endParaRPr lang="vi-VN"/>
          </a:p>
        </p:txBody>
      </p:sp>
      <p:sp>
        <p:nvSpPr>
          <p:cNvPr id="3" name="TextBox 2">
            <a:extLst>
              <a:ext uri="{FF2B5EF4-FFF2-40B4-BE49-F238E27FC236}">
                <a16:creationId xmlns:a16="http://schemas.microsoft.com/office/drawing/2014/main" id="{7B7A685B-C622-36A5-B59B-7EEDB2F84C02}"/>
              </a:ext>
            </a:extLst>
          </p:cNvPr>
          <p:cNvSpPr txBox="1"/>
          <p:nvPr/>
        </p:nvSpPr>
        <p:spPr>
          <a:xfrm>
            <a:off x="228600" y="1554046"/>
            <a:ext cx="4114800" cy="3226524"/>
          </a:xfrm>
          <a:prstGeom prst="rect">
            <a:avLst/>
          </a:prstGeom>
          <a:noFill/>
        </p:spPr>
        <p:txBody>
          <a:bodyPr wrap="square" rtlCol="0">
            <a:spAutoFit/>
          </a:bodyPr>
          <a:lstStyle/>
          <a:p>
            <a:pPr marL="342900" lvl="1" indent="-342900">
              <a:lnSpc>
                <a:spcPct val="150000"/>
              </a:lnSpc>
              <a:buFont typeface="Wingdings" panose="05000000000000000000" pitchFamily="2" charset="2"/>
              <a:buChar char="v"/>
            </a:pPr>
            <a:r>
              <a:rPr lang="en-US" sz="2000" b="1" i="1"/>
              <a:t>A*</a:t>
            </a:r>
            <a:r>
              <a:rPr lang="vi-VN" sz="2000" i="1"/>
              <a:t>:</a:t>
            </a:r>
            <a:r>
              <a:rPr lang="vi-VN" sz="2000"/>
              <a:t> Tìm kiếm đơn hướng, không gian tìm kiếm bị bóp hẹp và kéo dài về phía mục tiêu nhờ hàm Heuristic h(n), giúp tiết kiệm tài nguyên bộ nhớ và có tốc độ</a:t>
            </a:r>
          </a:p>
          <a:p>
            <a:pPr>
              <a:lnSpc>
                <a:spcPct val="150000"/>
              </a:lnSpc>
            </a:pPr>
            <a:endParaRPr lang="vi-VN"/>
          </a:p>
        </p:txBody>
      </p:sp>
      <p:sp>
        <p:nvSpPr>
          <p:cNvPr id="12" name="TextBox 11">
            <a:extLst>
              <a:ext uri="{FF2B5EF4-FFF2-40B4-BE49-F238E27FC236}">
                <a16:creationId xmlns:a16="http://schemas.microsoft.com/office/drawing/2014/main" id="{C91979E6-2CAA-1A81-2D9C-7DE2D34B7596}"/>
              </a:ext>
            </a:extLst>
          </p:cNvPr>
          <p:cNvSpPr txBox="1"/>
          <p:nvPr/>
        </p:nvSpPr>
        <p:spPr>
          <a:xfrm>
            <a:off x="228600" y="4571597"/>
            <a:ext cx="3810000" cy="1323439"/>
          </a:xfrm>
          <a:prstGeom prst="rect">
            <a:avLst/>
          </a:prstGeom>
          <a:noFill/>
        </p:spPr>
        <p:txBody>
          <a:bodyPr wrap="square">
            <a:spAutoFit/>
          </a:bodyPr>
          <a:lstStyle/>
          <a:p>
            <a:pPr marL="342900" indent="-342900" algn="l">
              <a:buFont typeface="Wingdings" panose="05000000000000000000" pitchFamily="2" charset="2"/>
              <a:buChar char="v"/>
            </a:pPr>
            <a:r>
              <a:rPr lang="vi-VN" sz="2000" b="1" i="0">
                <a:solidFill>
                  <a:schemeClr val="tx1"/>
                </a:solidFill>
                <a:effectLst/>
                <a:latin typeface="+mn-lt"/>
              </a:rPr>
              <a:t>Ứng dụng:</a:t>
            </a:r>
            <a:r>
              <a:rPr lang="vi-VN" sz="2000" b="0" i="0">
                <a:solidFill>
                  <a:schemeClr val="tx1"/>
                </a:solidFill>
                <a:effectLst/>
                <a:latin typeface="+mn-lt"/>
              </a:rPr>
              <a:t> Tìm đường tối ưu trên Web GIS, trí tuệ nhân tạo</a:t>
            </a:r>
            <a:r>
              <a:rPr lang="en-US" sz="2000" b="0" i="0">
                <a:solidFill>
                  <a:schemeClr val="tx1"/>
                </a:solidFill>
                <a:effectLst/>
                <a:latin typeface="+mn-lt"/>
              </a:rPr>
              <a:t> </a:t>
            </a:r>
            <a:r>
              <a:rPr lang="en-US" sz="2000" b="0" i="0">
                <a:solidFill>
                  <a:schemeClr val="tx1"/>
                </a:solidFill>
                <a:effectLst/>
                <a:latin typeface="Arial" panose="020B0604020202020204" pitchFamily="34" charset="0"/>
                <a:cs typeface="Arial" panose="020B0604020202020204" pitchFamily="34" charset="0"/>
              </a:rPr>
              <a:t>trong Videogames</a:t>
            </a:r>
            <a:r>
              <a:rPr lang="vi-VN" sz="2000" b="0" i="0">
                <a:solidFill>
                  <a:schemeClr val="tx1"/>
                </a:solidFill>
                <a:effectLst/>
                <a:latin typeface="+mn-lt"/>
              </a:rPr>
              <a:t> và robot tự hành.</a:t>
            </a:r>
          </a:p>
        </p:txBody>
      </p:sp>
      <p:pic>
        <p:nvPicPr>
          <p:cNvPr id="5" name="Picture 4">
            <a:extLst>
              <a:ext uri="{FF2B5EF4-FFF2-40B4-BE49-F238E27FC236}">
                <a16:creationId xmlns:a16="http://schemas.microsoft.com/office/drawing/2014/main" id="{BB594183-9AF5-C6D2-7A90-A4A38F39B97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01160" y="1554046"/>
            <a:ext cx="7762240" cy="4259766"/>
          </a:xfrm>
          <a:prstGeom prst="rect">
            <a:avLst/>
          </a:prstGeom>
        </p:spPr>
      </p:pic>
    </p:spTree>
    <p:extLst>
      <p:ext uri="{BB962C8B-B14F-4D97-AF65-F5344CB8AC3E}">
        <p14:creationId xmlns:p14="http://schemas.microsoft.com/office/powerpoint/2010/main" val="12606754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24C1D-BFB2-AA4C-3EAC-895DBE301E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9C64C2-3175-1B5B-1D79-7084C70C1540}"/>
              </a:ext>
            </a:extLst>
          </p:cNvPr>
          <p:cNvSpPr>
            <a:spLocks noGrp="1"/>
          </p:cNvSpPr>
          <p:nvPr>
            <p:ph type="title"/>
          </p:nvPr>
        </p:nvSpPr>
        <p:spPr>
          <a:xfrm>
            <a:off x="2423413" y="120777"/>
            <a:ext cx="7345172" cy="553998"/>
          </a:xfrm>
        </p:spPr>
        <p:txBody>
          <a:bodyPr/>
          <a:lstStyle/>
          <a:p>
            <a:r>
              <a:rPr lang="en-US"/>
              <a:t>CƠ SỞ LÝ THUYẾT CHUNG</a:t>
            </a:r>
            <a:endParaRPr lang="vi-VN"/>
          </a:p>
        </p:txBody>
      </p:sp>
      <p:sp>
        <p:nvSpPr>
          <p:cNvPr id="4" name="TextBox 3">
            <a:extLst>
              <a:ext uri="{FF2B5EF4-FFF2-40B4-BE49-F238E27FC236}">
                <a16:creationId xmlns:a16="http://schemas.microsoft.com/office/drawing/2014/main" id="{280226F1-950D-8EC8-F71C-465CCF11FF9B}"/>
              </a:ext>
            </a:extLst>
          </p:cNvPr>
          <p:cNvSpPr txBox="1"/>
          <p:nvPr/>
        </p:nvSpPr>
        <p:spPr>
          <a:xfrm>
            <a:off x="914400" y="1295401"/>
            <a:ext cx="10515599" cy="5113644"/>
          </a:xfrm>
          <a:prstGeom prst="rect">
            <a:avLst/>
          </a:prstGeom>
          <a:noFill/>
        </p:spPr>
        <p:txBody>
          <a:bodyPr wrap="square" rtlCol="0">
            <a:spAutoFit/>
          </a:bodyPr>
          <a:lstStyle/>
          <a:p>
            <a:pPr>
              <a:lnSpc>
                <a:spcPct val="150000"/>
              </a:lnSpc>
            </a:pPr>
            <a:r>
              <a:rPr lang="vi-VN" sz="2000" b="1">
                <a:latin typeface="+mn-lt"/>
              </a:rPr>
              <a:t>PostgreSQL:</a:t>
            </a:r>
            <a:r>
              <a:rPr lang="vi-VN" sz="2000">
                <a:latin typeface="+mn-lt"/>
              </a:rPr>
              <a:t> Là hệ quản trị cơ sở dữ liệu quan hệ đối tượng mã nguồn mở, hỗ trợ chuẩn ACID, đảm bảo độ tin cậy và toàn vẹn dữ liệu.</a:t>
            </a:r>
          </a:p>
          <a:p>
            <a:pPr>
              <a:lnSpc>
                <a:spcPct val="150000"/>
              </a:lnSpc>
            </a:pPr>
            <a:r>
              <a:rPr lang="vi-VN" sz="2000" b="1">
                <a:latin typeface="+mn-lt"/>
              </a:rPr>
              <a:t>Mở rộng PostGIS:</a:t>
            </a:r>
            <a:endParaRPr lang="vi-VN" sz="2000">
              <a:latin typeface="+mn-lt"/>
            </a:endParaRPr>
          </a:p>
          <a:p>
            <a:pPr marL="342900" lvl="1" indent="-342900">
              <a:lnSpc>
                <a:spcPct val="150000"/>
              </a:lnSpc>
              <a:buFont typeface="Arial" panose="020B0604020202020204" pitchFamily="34" charset="0"/>
              <a:buChar char="•"/>
            </a:pPr>
            <a:r>
              <a:rPr lang="vi-VN" sz="2000">
                <a:latin typeface="+mn-lt"/>
              </a:rPr>
              <a:t>Biến PostgreSQL thành cơ sở dữ liệu không gian địa lý, cho phép lưu trữ dưới định dạng Geometry và Geography.</a:t>
            </a:r>
          </a:p>
          <a:p>
            <a:pPr marL="342900" lvl="1" indent="-342900">
              <a:lnSpc>
                <a:spcPct val="150000"/>
              </a:lnSpc>
              <a:buFont typeface="Arial" panose="020B0604020202020204" pitchFamily="34" charset="0"/>
              <a:buChar char="•"/>
            </a:pPr>
            <a:r>
              <a:rPr lang="vi-VN" sz="2000">
                <a:latin typeface="+mn-lt"/>
              </a:rPr>
              <a:t>Cung cấp các kiểu dữ liệu không gian cốt lõi như: POINT (Điểm), LINESTRING (Đường), POLYGON (Đa giác).</a:t>
            </a:r>
          </a:p>
          <a:p>
            <a:pPr marL="342900" lvl="1" indent="-342900">
              <a:lnSpc>
                <a:spcPct val="150000"/>
              </a:lnSpc>
              <a:buFont typeface="Arial" panose="020B0604020202020204" pitchFamily="34" charset="0"/>
              <a:buChar char="•"/>
            </a:pPr>
            <a:r>
              <a:rPr lang="vi-VN" sz="2000">
                <a:latin typeface="+mn-lt"/>
              </a:rPr>
              <a:t>Tối ưu tốc độ truy vấn nhờ thuật toán cây R-Tree và các hàm xử lý không gian bằng C/C++.</a:t>
            </a:r>
          </a:p>
          <a:p>
            <a:pPr>
              <a:lnSpc>
                <a:spcPct val="150000"/>
              </a:lnSpc>
            </a:pPr>
            <a:r>
              <a:rPr lang="vi-VN" sz="2000" b="1">
                <a:latin typeface="+mn-lt"/>
              </a:rPr>
              <a:t>Tiện ích pgRouting:</a:t>
            </a:r>
            <a:r>
              <a:rPr lang="vi-VN" sz="2000">
                <a:latin typeface="+mn-lt"/>
              </a:rPr>
              <a:t> Hỗ trợ tính toán thuật toán A* trực tiếp bằng SQL (pgr_astar) tại tầng CSDL</a:t>
            </a:r>
          </a:p>
        </p:txBody>
      </p:sp>
    </p:spTree>
    <p:extLst>
      <p:ext uri="{BB962C8B-B14F-4D97-AF65-F5344CB8AC3E}">
        <p14:creationId xmlns:p14="http://schemas.microsoft.com/office/powerpoint/2010/main" val="33930024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BC09D-00D1-73F7-606D-82D270251513}"/>
              </a:ext>
            </a:extLst>
          </p:cNvPr>
          <p:cNvSpPr>
            <a:spLocks noGrp="1"/>
          </p:cNvSpPr>
          <p:nvPr>
            <p:ph type="title"/>
          </p:nvPr>
        </p:nvSpPr>
        <p:spPr>
          <a:xfrm>
            <a:off x="2423413" y="120778"/>
            <a:ext cx="7345172" cy="869061"/>
          </a:xfrm>
        </p:spPr>
        <p:txBody>
          <a:bodyPr wrap="square" lIns="0" tIns="0" rIns="0" bIns="0">
            <a:normAutofit/>
          </a:bodyPr>
          <a:lstStyle/>
          <a:p>
            <a:r>
              <a:rPr lang="en-US" b="1" i="0">
                <a:latin typeface="Times New Roman"/>
                <a:ea typeface="+mj-ea"/>
                <a:cs typeface="Times New Roman"/>
              </a:rPr>
              <a:t>HIỆN THỰC HÓA NGHIÊN CỨU</a:t>
            </a:r>
            <a:endParaRPr lang="vi-VN" b="1" i="0">
              <a:latin typeface="Times New Roman"/>
              <a:ea typeface="+mj-ea"/>
              <a:cs typeface="Times New Roman"/>
            </a:endParaRPr>
          </a:p>
        </p:txBody>
      </p:sp>
      <p:sp>
        <p:nvSpPr>
          <p:cNvPr id="3" name="TextBox 2">
            <a:extLst>
              <a:ext uri="{FF2B5EF4-FFF2-40B4-BE49-F238E27FC236}">
                <a16:creationId xmlns:a16="http://schemas.microsoft.com/office/drawing/2014/main" id="{2AE205F7-2963-DE3A-0EB8-6B11D8FA6981}"/>
              </a:ext>
            </a:extLst>
          </p:cNvPr>
          <p:cNvSpPr txBox="1"/>
          <p:nvPr/>
        </p:nvSpPr>
        <p:spPr>
          <a:xfrm>
            <a:off x="609600" y="1563163"/>
            <a:ext cx="4419600" cy="4526280"/>
          </a:xfrm>
          <a:prstGeom prst="rect">
            <a:avLst/>
          </a:prstGeom>
        </p:spPr>
        <p:txBody>
          <a:bodyPr wrap="square" lIns="0" tIns="0" rIns="0" bIns="0" rtlCol="0">
            <a:normAutofit fontScale="92500" lnSpcReduction="10000"/>
          </a:bodyPr>
          <a:lstStyle/>
          <a:p>
            <a:pPr marL="342900" indent="-342900">
              <a:lnSpc>
                <a:spcPct val="150000"/>
              </a:lnSpc>
              <a:spcAft>
                <a:spcPts val="600"/>
              </a:spcAft>
              <a:buFont typeface="Arial" panose="020B0604020202020204" pitchFamily="34" charset="0"/>
              <a:buChar char="•"/>
            </a:pPr>
            <a:r>
              <a:rPr lang="en-US" sz="2000" b="1">
                <a:solidFill>
                  <a:schemeClr val="tx1"/>
                </a:solidFill>
                <a:latin typeface="Arial" panose="020B0604020202020204" pitchFamily="34" charset="0"/>
                <a:ea typeface="+mn-ea"/>
                <a:cs typeface="Arial" panose="020B0604020202020204" pitchFamily="34" charset="0"/>
              </a:rPr>
              <a:t>Tính năng dành cho Người dùng: </a:t>
            </a:r>
            <a:r>
              <a:rPr lang="en-US" sz="2000">
                <a:solidFill>
                  <a:schemeClr val="tx1"/>
                </a:solidFill>
                <a:latin typeface="Arial" panose="020B0604020202020204" pitchFamily="34" charset="0"/>
                <a:ea typeface="+mn-ea"/>
                <a:cs typeface="Arial" panose="020B0604020202020204" pitchFamily="34" charset="0"/>
              </a:rPr>
              <a:t>Xem bản đồ khuôn viên tổng thể, tìm đường đi (chọn điểm bắt đầu/kết thúc), tìm kiếm nhanh danh sách địa điểm/phòng học và xem tin tức nội bộ.</a:t>
            </a:r>
          </a:p>
          <a:p>
            <a:pPr marL="342900" indent="-342900">
              <a:lnSpc>
                <a:spcPct val="150000"/>
              </a:lnSpc>
              <a:spcAft>
                <a:spcPts val="600"/>
              </a:spcAft>
              <a:buFont typeface="Arial" panose="020B0604020202020204" pitchFamily="34" charset="0"/>
              <a:buChar char="•"/>
            </a:pPr>
            <a:r>
              <a:rPr lang="en-US" sz="2000" b="1">
                <a:solidFill>
                  <a:schemeClr val="tx1"/>
                </a:solidFill>
                <a:latin typeface="Arial" panose="020B0604020202020204" pitchFamily="34" charset="0"/>
                <a:ea typeface="+mn-ea"/>
                <a:cs typeface="Arial" panose="020B0604020202020204" pitchFamily="34" charset="0"/>
              </a:rPr>
              <a:t>Tính năng dành cho Quản trị viên: </a:t>
            </a:r>
            <a:r>
              <a:rPr lang="en-US" sz="2000">
                <a:solidFill>
                  <a:schemeClr val="tx1"/>
                </a:solidFill>
                <a:latin typeface="Arial" panose="020B0604020202020204" pitchFamily="34" charset="0"/>
                <a:ea typeface="+mn-ea"/>
                <a:cs typeface="Arial" panose="020B0604020202020204" pitchFamily="34" charset="0"/>
              </a:rPr>
              <a:t>Quản lý đồ thị mạng lưới đường đi, quản lý thông tin các phòng học/tòa nhà, xuất bản tin tức và giám sát nhật ký truy xuất API.</a:t>
            </a:r>
          </a:p>
        </p:txBody>
      </p:sp>
      <p:pic>
        <p:nvPicPr>
          <p:cNvPr id="5" name="Picture 4">
            <a:extLst>
              <a:ext uri="{FF2B5EF4-FFF2-40B4-BE49-F238E27FC236}">
                <a16:creationId xmlns:a16="http://schemas.microsoft.com/office/drawing/2014/main" id="{955B6478-063C-7EDE-5E75-29C4F2C1BE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9200" y="1676400"/>
            <a:ext cx="6727744" cy="3935730"/>
          </a:xfrm>
          <a:prstGeom prst="rect">
            <a:avLst/>
          </a:prstGeom>
          <a:noFill/>
        </p:spPr>
      </p:pic>
    </p:spTree>
    <p:extLst>
      <p:ext uri="{BB962C8B-B14F-4D97-AF65-F5344CB8AC3E}">
        <p14:creationId xmlns:p14="http://schemas.microsoft.com/office/powerpoint/2010/main" val="1255562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A8C1D-1314-0CA5-E178-DD4D25F1D0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42E4AB-24DE-0D28-90AE-DF58CEF0B8AB}"/>
              </a:ext>
            </a:extLst>
          </p:cNvPr>
          <p:cNvSpPr>
            <a:spLocks noGrp="1"/>
          </p:cNvSpPr>
          <p:nvPr>
            <p:ph type="title"/>
          </p:nvPr>
        </p:nvSpPr>
        <p:spPr>
          <a:xfrm>
            <a:off x="2423413" y="120778"/>
            <a:ext cx="7345172" cy="869061"/>
          </a:xfrm>
        </p:spPr>
        <p:txBody>
          <a:bodyPr wrap="square" lIns="0" tIns="0" rIns="0" bIns="0">
            <a:normAutofit/>
          </a:bodyPr>
          <a:lstStyle/>
          <a:p>
            <a:r>
              <a:rPr lang="en-US" b="1" i="0">
                <a:latin typeface="Times New Roman"/>
                <a:ea typeface="+mj-ea"/>
                <a:cs typeface="Times New Roman"/>
              </a:rPr>
              <a:t>HIỆN THỰC HÓA NGHIÊN CỨU</a:t>
            </a:r>
            <a:endParaRPr lang="vi-VN" b="1" i="0">
              <a:latin typeface="Times New Roman"/>
              <a:ea typeface="+mj-ea"/>
              <a:cs typeface="Times New Roman"/>
            </a:endParaRPr>
          </a:p>
        </p:txBody>
      </p:sp>
      <p:pic>
        <p:nvPicPr>
          <p:cNvPr id="6" name="Picture 5">
            <a:extLst>
              <a:ext uri="{FF2B5EF4-FFF2-40B4-BE49-F238E27FC236}">
                <a16:creationId xmlns:a16="http://schemas.microsoft.com/office/drawing/2014/main" id="{BF6755A6-BF0D-B57D-CB7C-D45A69FEB21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19800" y="1312118"/>
            <a:ext cx="5410200" cy="5425104"/>
          </a:xfrm>
          <a:prstGeom prst="rect">
            <a:avLst/>
          </a:prstGeom>
        </p:spPr>
      </p:pic>
      <p:sp>
        <p:nvSpPr>
          <p:cNvPr id="7" name="TextBox 6">
            <a:extLst>
              <a:ext uri="{FF2B5EF4-FFF2-40B4-BE49-F238E27FC236}">
                <a16:creationId xmlns:a16="http://schemas.microsoft.com/office/drawing/2014/main" id="{61CEAF79-3A3F-916C-89ED-32BC14F76E1C}"/>
              </a:ext>
            </a:extLst>
          </p:cNvPr>
          <p:cNvSpPr txBox="1"/>
          <p:nvPr/>
        </p:nvSpPr>
        <p:spPr>
          <a:xfrm>
            <a:off x="228600" y="1371600"/>
            <a:ext cx="5562600" cy="4190314"/>
          </a:xfrm>
          <a:prstGeom prst="rect">
            <a:avLst/>
          </a:prstGeom>
          <a:noFill/>
        </p:spPr>
        <p:txBody>
          <a:bodyPr wrap="square" rtlCol="0">
            <a:spAutoFit/>
          </a:bodyPr>
          <a:lstStyle/>
          <a:p>
            <a:pPr marL="285750" lvl="1" indent="-285750">
              <a:lnSpc>
                <a:spcPct val="150000"/>
              </a:lnSpc>
              <a:buFont typeface="Wingdings" panose="05000000000000000000" pitchFamily="2" charset="2"/>
              <a:buChar char="v"/>
            </a:pPr>
            <a:r>
              <a:rPr lang="vi-VN" sz="2000">
                <a:latin typeface="+mn-lt"/>
              </a:rPr>
              <a:t>Bảng landmarks (Tòa nhà) có mối quan hệ 1-n với bảng rooms (Phòng học).</a:t>
            </a:r>
          </a:p>
          <a:p>
            <a:pPr marL="285750" lvl="1" indent="-285750">
              <a:lnSpc>
                <a:spcPct val="150000"/>
              </a:lnSpc>
              <a:buFont typeface="Wingdings" panose="05000000000000000000" pitchFamily="2" charset="2"/>
              <a:buChar char="v"/>
            </a:pPr>
            <a:r>
              <a:rPr lang="vi-VN" sz="2000">
                <a:latin typeface="+mn-lt"/>
              </a:rPr>
              <a:t>Bảng road_nodes (điểm nút giao thông) liên kết với bảng roads (đoạn đường) qua source và target để tạo lập đồ thị mạng lưới có hướng phục vụ tìm đường.</a:t>
            </a:r>
          </a:p>
          <a:p>
            <a:pPr marL="285750" indent="-285750">
              <a:lnSpc>
                <a:spcPct val="150000"/>
              </a:lnSpc>
              <a:buFont typeface="Wingdings" panose="05000000000000000000" pitchFamily="2" charset="2"/>
              <a:buChar char="v"/>
            </a:pPr>
            <a:r>
              <a:rPr lang="vi-VN" sz="2000">
                <a:latin typeface="+mn-lt"/>
              </a:rPr>
              <a:t>Bảng news có khả năng liên kết nhận thức không gian khi được gán trực tiếp vào một landmark_id (tòa nhà tổ chức sự kiện).</a:t>
            </a:r>
          </a:p>
        </p:txBody>
      </p:sp>
    </p:spTree>
    <p:extLst>
      <p:ext uri="{BB962C8B-B14F-4D97-AF65-F5344CB8AC3E}">
        <p14:creationId xmlns:p14="http://schemas.microsoft.com/office/powerpoint/2010/main" val="22120714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30DFE-C566-589D-7017-533929827A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3E18F1-27A6-1768-7AC2-1567DBAD20BC}"/>
              </a:ext>
            </a:extLst>
          </p:cNvPr>
          <p:cNvSpPr>
            <a:spLocks noGrp="1"/>
          </p:cNvSpPr>
          <p:nvPr>
            <p:ph type="title"/>
          </p:nvPr>
        </p:nvSpPr>
        <p:spPr>
          <a:xfrm>
            <a:off x="2423413" y="120778"/>
            <a:ext cx="7345172" cy="869061"/>
          </a:xfrm>
        </p:spPr>
        <p:txBody>
          <a:bodyPr wrap="square" lIns="0" tIns="0" rIns="0" bIns="0">
            <a:normAutofit/>
          </a:bodyPr>
          <a:lstStyle/>
          <a:p>
            <a:r>
              <a:rPr lang="en-US" b="1" i="0">
                <a:latin typeface="Times New Roman"/>
                <a:ea typeface="+mj-ea"/>
                <a:cs typeface="Times New Roman"/>
              </a:rPr>
              <a:t>HIỆN THỰC HÓA NGHIÊN CỨU</a:t>
            </a:r>
            <a:endParaRPr lang="vi-VN" b="1" i="0">
              <a:latin typeface="Times New Roman"/>
              <a:ea typeface="+mj-ea"/>
              <a:cs typeface="Times New Roman"/>
            </a:endParaRPr>
          </a:p>
        </p:txBody>
      </p:sp>
      <p:sp>
        <p:nvSpPr>
          <p:cNvPr id="3" name="TextBox 2">
            <a:extLst>
              <a:ext uri="{FF2B5EF4-FFF2-40B4-BE49-F238E27FC236}">
                <a16:creationId xmlns:a16="http://schemas.microsoft.com/office/drawing/2014/main" id="{0E43EA7E-26A9-8516-572E-EF494669AAF3}"/>
              </a:ext>
            </a:extLst>
          </p:cNvPr>
          <p:cNvSpPr txBox="1"/>
          <p:nvPr/>
        </p:nvSpPr>
        <p:spPr>
          <a:xfrm>
            <a:off x="457200" y="1484010"/>
            <a:ext cx="5257800" cy="4651979"/>
          </a:xfrm>
          <a:prstGeom prst="rect">
            <a:avLst/>
          </a:prstGeom>
          <a:noFill/>
        </p:spPr>
        <p:txBody>
          <a:bodyPr wrap="square" rtlCol="0">
            <a:spAutoFit/>
          </a:bodyPr>
          <a:lstStyle/>
          <a:p>
            <a:pPr>
              <a:lnSpc>
                <a:spcPct val="150000"/>
              </a:lnSpc>
            </a:pPr>
            <a:r>
              <a:rPr lang="vi-VN" sz="2000" b="1">
                <a:latin typeface="+mn-lt"/>
              </a:rPr>
              <a:t>Cấu trúc Backend:</a:t>
            </a:r>
            <a:r>
              <a:rPr lang="vi-VN" sz="2000">
                <a:latin typeface="+mn-lt"/>
              </a:rPr>
              <a:t> Áp dụng MVC thu gọn, trong đó View được thay thế bằng chuẩn phản hồi JSON API chuyên biệt (gồm: success, data, message).</a:t>
            </a:r>
          </a:p>
          <a:p>
            <a:pPr>
              <a:lnSpc>
                <a:spcPct val="150000"/>
              </a:lnSpc>
            </a:pPr>
            <a:r>
              <a:rPr lang="vi-VN" sz="2000" b="1">
                <a:latin typeface="+mn-lt"/>
              </a:rPr>
              <a:t>Một số API cốt lõi:</a:t>
            </a:r>
            <a:endParaRPr lang="vi-VN" sz="2000">
              <a:latin typeface="+mn-lt"/>
            </a:endParaRPr>
          </a:p>
          <a:p>
            <a:pPr marL="342900" lvl="1" indent="-342900">
              <a:lnSpc>
                <a:spcPct val="150000"/>
              </a:lnSpc>
              <a:buFont typeface="Arial" panose="020B0604020202020204" pitchFamily="34" charset="0"/>
              <a:buChar char="•"/>
            </a:pPr>
            <a:r>
              <a:rPr lang="vi-VN" sz="2000">
                <a:latin typeface="+mn-lt"/>
              </a:rPr>
              <a:t>/api/landmarks và /api/rooms: Quản lý, truy vấn thông tin tòa nhà và phòng học.</a:t>
            </a:r>
          </a:p>
          <a:p>
            <a:pPr marL="342900" lvl="1" indent="-342900">
              <a:lnSpc>
                <a:spcPct val="150000"/>
              </a:lnSpc>
              <a:buFont typeface="Arial" panose="020B0604020202020204" pitchFamily="34" charset="0"/>
              <a:buChar char="•"/>
            </a:pPr>
            <a:r>
              <a:rPr lang="vi-VN" sz="2000">
                <a:latin typeface="+mn-lt"/>
              </a:rPr>
              <a:t>/api/paths/find?from=N&amp;to=M: API điều hướng xử lý thuật toán A* để tính toán đường đi tối ưu giữa hai điểm nút.</a:t>
            </a:r>
          </a:p>
        </p:txBody>
      </p:sp>
      <p:pic>
        <p:nvPicPr>
          <p:cNvPr id="7" name="Picture 6">
            <a:extLst>
              <a:ext uri="{FF2B5EF4-FFF2-40B4-BE49-F238E27FC236}">
                <a16:creationId xmlns:a16="http://schemas.microsoft.com/office/drawing/2014/main" id="{EEBC365E-B300-91D9-0B5B-5BC05C4B5D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7400" y="2133600"/>
            <a:ext cx="6059546" cy="3352800"/>
          </a:xfrm>
          <a:prstGeom prst="rect">
            <a:avLst/>
          </a:prstGeom>
        </p:spPr>
      </p:pic>
    </p:spTree>
    <p:extLst>
      <p:ext uri="{BB962C8B-B14F-4D97-AF65-F5344CB8AC3E}">
        <p14:creationId xmlns:p14="http://schemas.microsoft.com/office/powerpoint/2010/main" val="608306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9785C-3AE5-57D0-1377-9F5060E0CD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EA3DA4-B84F-6306-1204-A35C2027A0AB}"/>
              </a:ext>
            </a:extLst>
          </p:cNvPr>
          <p:cNvSpPr>
            <a:spLocks noGrp="1"/>
          </p:cNvSpPr>
          <p:nvPr>
            <p:ph type="title"/>
          </p:nvPr>
        </p:nvSpPr>
        <p:spPr>
          <a:xfrm>
            <a:off x="2423413" y="120778"/>
            <a:ext cx="7345172" cy="869061"/>
          </a:xfrm>
        </p:spPr>
        <p:txBody>
          <a:bodyPr wrap="square" lIns="0" tIns="0" rIns="0" bIns="0">
            <a:normAutofit/>
          </a:bodyPr>
          <a:lstStyle/>
          <a:p>
            <a:r>
              <a:rPr lang="en-US" b="1" i="0">
                <a:latin typeface="Times New Roman"/>
                <a:ea typeface="+mj-ea"/>
                <a:cs typeface="Times New Roman"/>
              </a:rPr>
              <a:t>HIỆN THỰC HÓA NGHIÊN CỨU</a:t>
            </a:r>
            <a:endParaRPr lang="vi-VN" b="1" i="0">
              <a:latin typeface="Times New Roman"/>
              <a:ea typeface="+mj-ea"/>
              <a:cs typeface="Times New Roman"/>
            </a:endParaRPr>
          </a:p>
        </p:txBody>
      </p:sp>
      <p:sp>
        <p:nvSpPr>
          <p:cNvPr id="3" name="TextBox 2">
            <a:extLst>
              <a:ext uri="{FF2B5EF4-FFF2-40B4-BE49-F238E27FC236}">
                <a16:creationId xmlns:a16="http://schemas.microsoft.com/office/drawing/2014/main" id="{B27902EF-8029-BCC6-6822-48C8DA651B65}"/>
              </a:ext>
            </a:extLst>
          </p:cNvPr>
          <p:cNvSpPr txBox="1"/>
          <p:nvPr/>
        </p:nvSpPr>
        <p:spPr>
          <a:xfrm>
            <a:off x="685800" y="1447800"/>
            <a:ext cx="5867400" cy="4678204"/>
          </a:xfrm>
          <a:prstGeom prst="rect">
            <a:avLst/>
          </a:prstGeom>
          <a:noFill/>
        </p:spPr>
        <p:txBody>
          <a:bodyPr wrap="square" rtlCol="0">
            <a:spAutoFit/>
          </a:bodyPr>
          <a:lstStyle/>
          <a:p>
            <a:r>
              <a:rPr lang="vi-VN" sz="2000" b="1"/>
              <a:t>Thuật toán và Luồng tìm đường</a:t>
            </a:r>
            <a:r>
              <a:rPr lang="en-US" sz="2000" b="1"/>
              <a:t>:</a:t>
            </a:r>
          </a:p>
          <a:p>
            <a:endParaRPr lang="en-US" sz="2000" b="1"/>
          </a:p>
          <a:p>
            <a:pPr marL="342900" indent="-342900">
              <a:buFont typeface="Wingdings" panose="05000000000000000000" pitchFamily="2" charset="2"/>
              <a:buChar char="v"/>
            </a:pPr>
            <a:r>
              <a:rPr lang="vi-VN" sz="2000" b="1"/>
              <a:t>Chiến lược định tuyến đa tầng:</a:t>
            </a:r>
            <a:r>
              <a:rPr lang="vi-VN" sz="2000"/>
              <a:t> Hệ thống được thiết kế để xử lý cho cả 2 kịch bản: sinh viên đang ở bên trong và ngoài trường.</a:t>
            </a:r>
          </a:p>
          <a:p>
            <a:pPr marL="342900" indent="-342900">
              <a:buFont typeface="Wingdings" panose="05000000000000000000" pitchFamily="2" charset="2"/>
              <a:buChar char="v"/>
            </a:pPr>
            <a:r>
              <a:rPr lang="vi-VN" sz="2000" b="1"/>
              <a:t>Nhận diện vị trí không gian:</a:t>
            </a:r>
            <a:endParaRPr lang="vi-VN" sz="2000"/>
          </a:p>
          <a:p>
            <a:pPr marL="685800" lvl="8" indent="-342900">
              <a:buFont typeface="Arial" panose="020B0604020202020204" pitchFamily="34" charset="0"/>
              <a:buChar char="•"/>
            </a:pPr>
            <a:r>
              <a:rPr lang="vi-VN" sz="2000"/>
              <a:t>Sử dụng tọa độ hộp giới hạn (Bounding Box) để xác định người dùng đang ở trong hay ngoài khuôn viên.</a:t>
            </a:r>
          </a:p>
          <a:p>
            <a:pPr marL="685800" lvl="8" indent="-342900">
              <a:buFont typeface="Arial" panose="020B0604020202020204" pitchFamily="34" charset="0"/>
              <a:buChar char="•"/>
            </a:pPr>
            <a:r>
              <a:rPr lang="vi-VN" sz="2000"/>
              <a:t>Khai thác GPS phần cứng hoặc định vị qua IP/WiFi để lấy tọa độ tức thời.</a:t>
            </a:r>
          </a:p>
          <a:p>
            <a:pPr marL="685800" lvl="8" indent="-342900">
              <a:buFont typeface="Arial" panose="020B0604020202020204" pitchFamily="34" charset="0"/>
              <a:buChar char="•"/>
            </a:pPr>
            <a:r>
              <a:rPr lang="vi-VN" sz="2000"/>
              <a:t>Gọi API findNearestNode để tự động bám bắt tọa độ GPS thực tế của người dùng vào điểm nút (node) gần nhất trên đồ thị.</a:t>
            </a:r>
          </a:p>
          <a:p>
            <a:endParaRPr lang="vi-VN"/>
          </a:p>
        </p:txBody>
      </p:sp>
      <p:pic>
        <p:nvPicPr>
          <p:cNvPr id="5" name="Picture 4">
            <a:extLst>
              <a:ext uri="{FF2B5EF4-FFF2-40B4-BE49-F238E27FC236}">
                <a16:creationId xmlns:a16="http://schemas.microsoft.com/office/drawing/2014/main" id="{AD43B92D-0728-68CA-DF09-811F5C924444}"/>
              </a:ext>
            </a:extLst>
          </p:cNvPr>
          <p:cNvPicPr>
            <a:picLocks noChangeAspect="1"/>
          </p:cNvPicPr>
          <p:nvPr/>
        </p:nvPicPr>
        <p:blipFill>
          <a:blip r:embed="rId2"/>
          <a:stretch>
            <a:fillRect/>
          </a:stretch>
        </p:blipFill>
        <p:spPr>
          <a:xfrm>
            <a:off x="7162800" y="1162050"/>
            <a:ext cx="4343400" cy="5695950"/>
          </a:xfrm>
          <a:prstGeom prst="rect">
            <a:avLst/>
          </a:prstGeom>
        </p:spPr>
      </p:pic>
    </p:spTree>
    <p:extLst>
      <p:ext uri="{BB962C8B-B14F-4D97-AF65-F5344CB8AC3E}">
        <p14:creationId xmlns:p14="http://schemas.microsoft.com/office/powerpoint/2010/main" val="6409895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70828-C33D-1CA6-1297-13AC88AE03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B334C5-1C72-108B-0CB3-BF0DD29BCA91}"/>
              </a:ext>
            </a:extLst>
          </p:cNvPr>
          <p:cNvSpPr>
            <a:spLocks noGrp="1"/>
          </p:cNvSpPr>
          <p:nvPr>
            <p:ph type="title"/>
          </p:nvPr>
        </p:nvSpPr>
        <p:spPr>
          <a:xfrm>
            <a:off x="2423413" y="120778"/>
            <a:ext cx="7345172" cy="869061"/>
          </a:xfrm>
        </p:spPr>
        <p:txBody>
          <a:bodyPr wrap="square" lIns="0" tIns="0" rIns="0" bIns="0">
            <a:normAutofit/>
          </a:bodyPr>
          <a:lstStyle/>
          <a:p>
            <a:r>
              <a:rPr lang="en-US" b="1" i="0">
                <a:latin typeface="Times New Roman"/>
                <a:ea typeface="+mj-ea"/>
                <a:cs typeface="Times New Roman"/>
              </a:rPr>
              <a:t>HIỆN THỰC HÓA NGHIÊN CỨU</a:t>
            </a:r>
            <a:endParaRPr lang="vi-VN" b="1" i="0">
              <a:latin typeface="Times New Roman"/>
              <a:ea typeface="+mj-ea"/>
              <a:cs typeface="Times New Roman"/>
            </a:endParaRPr>
          </a:p>
        </p:txBody>
      </p:sp>
      <p:sp>
        <p:nvSpPr>
          <p:cNvPr id="3" name="TextBox 2">
            <a:extLst>
              <a:ext uri="{FF2B5EF4-FFF2-40B4-BE49-F238E27FC236}">
                <a16:creationId xmlns:a16="http://schemas.microsoft.com/office/drawing/2014/main" id="{498F4C5F-7811-79F3-F7D0-3C8B04F905CF}"/>
              </a:ext>
            </a:extLst>
          </p:cNvPr>
          <p:cNvSpPr txBox="1"/>
          <p:nvPr/>
        </p:nvSpPr>
        <p:spPr>
          <a:xfrm>
            <a:off x="685800" y="1447800"/>
            <a:ext cx="11049000" cy="5355312"/>
          </a:xfrm>
          <a:prstGeom prst="rect">
            <a:avLst/>
          </a:prstGeom>
          <a:noFill/>
        </p:spPr>
        <p:txBody>
          <a:bodyPr wrap="square" rtlCol="0">
            <a:spAutoFit/>
          </a:bodyPr>
          <a:lstStyle/>
          <a:p>
            <a:pPr>
              <a:lnSpc>
                <a:spcPct val="150000"/>
              </a:lnSpc>
            </a:pPr>
            <a:r>
              <a:rPr lang="vi-VN" sz="2700" b="1"/>
              <a:t>Đối với luồng di chuyển từ ngoài vào trường:</a:t>
            </a:r>
            <a:endParaRPr lang="vi-VN" sz="2700"/>
          </a:p>
          <a:p>
            <a:pPr marL="457200" lvl="1" indent="-457200">
              <a:lnSpc>
                <a:spcPct val="150000"/>
              </a:lnSpc>
              <a:buFont typeface="Arial" panose="020B0604020202020204" pitchFamily="34" charset="0"/>
              <a:buChar char="•"/>
            </a:pPr>
            <a:r>
              <a:rPr lang="vi-VN" sz="2700"/>
              <a:t>Hệ thống xác định cổng tiếp cận (Gate) tối ưu gần với điểm đích của sinh viên nhất bằng thuật toán Euclid.</a:t>
            </a:r>
          </a:p>
          <a:p>
            <a:pPr marL="457200" lvl="1" indent="-457200">
              <a:lnSpc>
                <a:spcPct val="150000"/>
              </a:lnSpc>
              <a:buFont typeface="Arial" panose="020B0604020202020204" pitchFamily="34" charset="0"/>
              <a:buChar char="•"/>
            </a:pPr>
            <a:r>
              <a:rPr lang="vi-VN" sz="2700"/>
              <a:t>Kết nối với API định tuyến công cộng </a:t>
            </a:r>
            <a:r>
              <a:rPr lang="vi-VN" sz="2700" b="1"/>
              <a:t>OSRM</a:t>
            </a:r>
            <a:r>
              <a:rPr lang="vi-VN" sz="2700"/>
              <a:t> (Open Source Routing Machine) để vẽ lộ trình đường bộ từ vị trí người dùng đến cổng trường đã chọn.</a:t>
            </a:r>
          </a:p>
          <a:p>
            <a:pPr marL="457200" lvl="1" indent="-457200">
              <a:lnSpc>
                <a:spcPct val="150000"/>
              </a:lnSpc>
              <a:buFont typeface="Arial" panose="020B0604020202020204" pitchFamily="34" charset="0"/>
              <a:buChar char="•"/>
            </a:pPr>
            <a:r>
              <a:rPr lang="vi-VN" sz="2700"/>
              <a:t>Sau đó, hệ thống tiếp tục tự động nối luồng chỉ đường A* nội bộ từ cổng vào đến phòng học đích.</a:t>
            </a:r>
          </a:p>
          <a:p>
            <a:endParaRPr lang="vi-VN"/>
          </a:p>
        </p:txBody>
      </p:sp>
    </p:spTree>
    <p:extLst>
      <p:ext uri="{BB962C8B-B14F-4D97-AF65-F5344CB8AC3E}">
        <p14:creationId xmlns:p14="http://schemas.microsoft.com/office/powerpoint/2010/main" val="13125338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0A334-8F09-2D4D-835C-5DEE03B594A9}"/>
              </a:ext>
            </a:extLst>
          </p:cNvPr>
          <p:cNvSpPr>
            <a:spLocks noGrp="1"/>
          </p:cNvSpPr>
          <p:nvPr>
            <p:ph type="title"/>
          </p:nvPr>
        </p:nvSpPr>
        <p:spPr>
          <a:xfrm>
            <a:off x="2423413" y="120778"/>
            <a:ext cx="7345172" cy="869061"/>
          </a:xfrm>
        </p:spPr>
        <p:txBody>
          <a:bodyPr wrap="square">
            <a:normAutofit/>
          </a:bodyPr>
          <a:lstStyle/>
          <a:p>
            <a:r>
              <a:rPr lang="en-US"/>
              <a:t>KẾT QUẢ NGHIÊN CỨU</a:t>
            </a:r>
            <a:endParaRPr lang="vi-VN"/>
          </a:p>
        </p:txBody>
      </p:sp>
      <p:sp>
        <p:nvSpPr>
          <p:cNvPr id="3" name="TextBox 2">
            <a:extLst>
              <a:ext uri="{FF2B5EF4-FFF2-40B4-BE49-F238E27FC236}">
                <a16:creationId xmlns:a16="http://schemas.microsoft.com/office/drawing/2014/main" id="{0094740E-A34B-C790-C80C-AF00AAE54B15}"/>
              </a:ext>
            </a:extLst>
          </p:cNvPr>
          <p:cNvSpPr txBox="1"/>
          <p:nvPr/>
        </p:nvSpPr>
        <p:spPr>
          <a:xfrm>
            <a:off x="914400" y="1676400"/>
            <a:ext cx="10134600" cy="4431983"/>
          </a:xfrm>
          <a:prstGeom prst="rect">
            <a:avLst/>
          </a:prstGeom>
          <a:noFill/>
        </p:spPr>
        <p:txBody>
          <a:bodyPr wrap="square" rtlCol="0">
            <a:spAutoFit/>
          </a:bodyPr>
          <a:lstStyle/>
          <a:p>
            <a:pPr>
              <a:lnSpc>
                <a:spcPct val="150000"/>
              </a:lnSpc>
            </a:pPr>
            <a:r>
              <a:rPr lang="vi-VN" sz="2200" b="1">
                <a:latin typeface="+mn-lt"/>
              </a:rPr>
              <a:t>Hoàn thiện sản phẩm thực tế:</a:t>
            </a:r>
            <a:r>
              <a:rPr lang="vi-VN" sz="2200">
                <a:latin typeface="+mn-lt"/>
              </a:rPr>
              <a:t> Đã triển khai thành công ứng dụng với Giao diện Trang chủ hiển thị bản đồ 2D sinh động, thân thiện với thiết bị di động.</a:t>
            </a:r>
          </a:p>
          <a:p>
            <a:pPr>
              <a:lnSpc>
                <a:spcPct val="150000"/>
              </a:lnSpc>
            </a:pPr>
            <a:r>
              <a:rPr lang="vi-VN" sz="2200" b="1">
                <a:latin typeface="+mn-lt"/>
              </a:rPr>
              <a:t>Tính năng nổi bật đã tích hợp:</a:t>
            </a:r>
            <a:endParaRPr lang="vi-VN" sz="2200">
              <a:latin typeface="+mn-lt"/>
            </a:endParaRPr>
          </a:p>
          <a:p>
            <a:pPr marL="342900" lvl="1" indent="-342900">
              <a:lnSpc>
                <a:spcPct val="150000"/>
              </a:lnSpc>
              <a:buFont typeface="Arial" panose="020B0604020202020204" pitchFamily="34" charset="0"/>
              <a:buChar char="•"/>
            </a:pPr>
            <a:r>
              <a:rPr lang="vi-VN" sz="2200">
                <a:latin typeface="+mn-lt"/>
              </a:rPr>
              <a:t>Giao diện danh mục tra cứu tất cả các tòa nhà, phòng học theo dạng phân cấp.</a:t>
            </a:r>
          </a:p>
          <a:p>
            <a:pPr marL="342900" lvl="1" indent="-342900">
              <a:lnSpc>
                <a:spcPct val="150000"/>
              </a:lnSpc>
              <a:buFont typeface="Arial" panose="020B0604020202020204" pitchFamily="34" charset="0"/>
              <a:buChar char="•"/>
            </a:pPr>
            <a:r>
              <a:rPr lang="vi-VN" sz="2200">
                <a:latin typeface="+mn-lt"/>
              </a:rPr>
              <a:t>Module tin tức không gian, thông báo sự kiện học thuật.</a:t>
            </a:r>
          </a:p>
          <a:p>
            <a:pPr marL="342900" lvl="1" indent="-342900">
              <a:lnSpc>
                <a:spcPct val="150000"/>
              </a:lnSpc>
              <a:buFont typeface="Arial" panose="020B0604020202020204" pitchFamily="34" charset="0"/>
              <a:buChar char="•"/>
            </a:pPr>
            <a:r>
              <a:rPr lang="vi-VN" sz="2200">
                <a:latin typeface="+mn-lt"/>
              </a:rPr>
              <a:t>Trang quản trị (Admin Panel) với Dashboard thống kê trực quan để thao tác thêm mới/cập nhật dữ liệu tọa độ không gian mà không cần code.</a:t>
            </a:r>
          </a:p>
          <a:p>
            <a:endParaRPr lang="vi-VN"/>
          </a:p>
        </p:txBody>
      </p:sp>
    </p:spTree>
    <p:extLst>
      <p:ext uri="{BB962C8B-B14F-4D97-AF65-F5344CB8AC3E}">
        <p14:creationId xmlns:p14="http://schemas.microsoft.com/office/powerpoint/2010/main" val="354728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DB216-2659-09A4-7AFD-94CFEE25F7EB}"/>
              </a:ext>
            </a:extLst>
          </p:cNvPr>
          <p:cNvSpPr>
            <a:spLocks noGrp="1"/>
          </p:cNvSpPr>
          <p:nvPr>
            <p:ph type="title"/>
          </p:nvPr>
        </p:nvSpPr>
        <p:spPr>
          <a:xfrm>
            <a:off x="2423413" y="120778"/>
            <a:ext cx="7345172" cy="869061"/>
          </a:xfrm>
        </p:spPr>
        <p:txBody>
          <a:bodyPr wrap="square">
            <a:normAutofit fontScale="90000"/>
          </a:bodyPr>
          <a:lstStyle/>
          <a:p>
            <a:r>
              <a:rPr lang="en-US"/>
              <a:t>KẾT LUẬN &amp; HƯỚNG PHÁT TRIỂN</a:t>
            </a:r>
            <a:endParaRPr lang="vi-VN"/>
          </a:p>
        </p:txBody>
      </p:sp>
      <p:sp>
        <p:nvSpPr>
          <p:cNvPr id="3" name="TextBox 2">
            <a:extLst>
              <a:ext uri="{FF2B5EF4-FFF2-40B4-BE49-F238E27FC236}">
                <a16:creationId xmlns:a16="http://schemas.microsoft.com/office/drawing/2014/main" id="{010D7166-FD4C-B823-5A55-56B289FB72DF}"/>
              </a:ext>
            </a:extLst>
          </p:cNvPr>
          <p:cNvSpPr txBox="1"/>
          <p:nvPr/>
        </p:nvSpPr>
        <p:spPr>
          <a:xfrm>
            <a:off x="609600" y="1447800"/>
            <a:ext cx="10058400" cy="4879926"/>
          </a:xfrm>
          <a:prstGeom prst="rect">
            <a:avLst/>
          </a:prstGeom>
          <a:noFill/>
        </p:spPr>
        <p:txBody>
          <a:bodyPr wrap="square" rtlCol="0">
            <a:spAutoFit/>
          </a:bodyPr>
          <a:lstStyle/>
          <a:p>
            <a:pPr>
              <a:lnSpc>
                <a:spcPct val="150000"/>
              </a:lnSpc>
            </a:pPr>
            <a:r>
              <a:rPr lang="vi-VN" sz="2100" b="1">
                <a:latin typeface="+mn-lt"/>
              </a:rPr>
              <a:t>Kết luận:</a:t>
            </a:r>
            <a:r>
              <a:rPr lang="vi-VN" sz="2100">
                <a:latin typeface="+mn-lt"/>
              </a:rPr>
              <a:t> Đồ án đã số hóa thành công mạng lưới không gian và sơ đồ phòng học tại ĐH Trà Vinh. Việc kết hợp GIS (PostgreSQL/PostGIS) và thuật toán A* đã tối ưu hóa hiệu năng, giúp sinh viên có công cụ tìm đường chính xác, trực quan.</a:t>
            </a:r>
          </a:p>
          <a:p>
            <a:pPr>
              <a:lnSpc>
                <a:spcPct val="150000"/>
              </a:lnSpc>
            </a:pPr>
            <a:r>
              <a:rPr lang="vi-VN" sz="2100" b="1">
                <a:latin typeface="+mn-lt"/>
              </a:rPr>
              <a:t>Hướng phát triển:</a:t>
            </a:r>
            <a:endParaRPr lang="vi-VN" sz="2100">
              <a:latin typeface="+mn-lt"/>
            </a:endParaRPr>
          </a:p>
          <a:p>
            <a:pPr lvl="1">
              <a:lnSpc>
                <a:spcPct val="150000"/>
              </a:lnSpc>
            </a:pPr>
            <a:r>
              <a:rPr lang="vi-VN" sz="2100">
                <a:latin typeface="+mn-lt"/>
              </a:rPr>
              <a:t>Nâng cấp thuật toán A* kết hợp với dữ liệu độ cao để thiết lập chỉ đường xuyên tầng 3D.</a:t>
            </a:r>
          </a:p>
          <a:p>
            <a:pPr lvl="1">
              <a:lnSpc>
                <a:spcPct val="150000"/>
              </a:lnSpc>
            </a:pPr>
            <a:r>
              <a:rPr lang="vi-VN" sz="2100">
                <a:latin typeface="+mn-lt"/>
              </a:rPr>
              <a:t>Phát triển thêm ứng dụng Mobile Native tận dụng cảm biến thiết bị (la bàn, bước chân).</a:t>
            </a:r>
          </a:p>
          <a:p>
            <a:pPr lvl="1">
              <a:lnSpc>
                <a:spcPct val="150000"/>
              </a:lnSpc>
            </a:pPr>
            <a:r>
              <a:rPr lang="vi-VN" sz="2100">
                <a:latin typeface="+mn-lt"/>
              </a:rPr>
              <a:t>Đồng bộ ứng dụng với hệ thống quản lý lịch học tự động để vạch sẵn lộ trình di chuyển hàng ngày cho sinh viên.</a:t>
            </a:r>
          </a:p>
        </p:txBody>
      </p:sp>
    </p:spTree>
    <p:extLst>
      <p:ext uri="{BB962C8B-B14F-4D97-AF65-F5344CB8AC3E}">
        <p14:creationId xmlns:p14="http://schemas.microsoft.com/office/powerpoint/2010/main" val="32542576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1987884-7E43-C3BB-439E-5892752C4266}"/>
              </a:ext>
            </a:extLst>
          </p:cNvPr>
          <p:cNvSpPr txBox="1"/>
          <p:nvPr/>
        </p:nvSpPr>
        <p:spPr>
          <a:xfrm>
            <a:off x="838200" y="2644170"/>
            <a:ext cx="10172700" cy="1569660"/>
          </a:xfrm>
          <a:prstGeom prst="rect">
            <a:avLst/>
          </a:prstGeom>
          <a:noFill/>
        </p:spPr>
        <p:txBody>
          <a:bodyPr wrap="square" rtlCol="0">
            <a:spAutoFit/>
          </a:bodyPr>
          <a:lstStyle/>
          <a:p>
            <a:pPr algn="ctr"/>
            <a:r>
              <a:rPr lang="en-US" sz="4800" b="1">
                <a:solidFill>
                  <a:schemeClr val="tx2"/>
                </a:solidFill>
                <a:latin typeface="Arial" panose="020B0604020202020204" pitchFamily="34" charset="0"/>
                <a:ea typeface="Arial MT Pro Bold"/>
                <a:cs typeface="Arial" panose="020B0604020202020204" pitchFamily="34" charset="0"/>
                <a:sym typeface="Arial MT Pro Bold"/>
              </a:rPr>
              <a:t>CẢM ƠN THẦY VÀ MỌI NGƯỜI ĐÃ LẮNG NGHE!</a:t>
            </a:r>
          </a:p>
        </p:txBody>
      </p:sp>
    </p:spTree>
    <p:extLst>
      <p:ext uri="{BB962C8B-B14F-4D97-AF65-F5344CB8AC3E}">
        <p14:creationId xmlns:p14="http://schemas.microsoft.com/office/powerpoint/2010/main" val="32362137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1954</TotalTime>
  <Words>1656</Words>
  <Application>Microsoft Office PowerPoint</Application>
  <PresentationFormat>Widescreen</PresentationFormat>
  <Paragraphs>87</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Impact</vt:lpstr>
      <vt:lpstr>Times New Roman</vt:lpstr>
      <vt:lpstr>Wingdings</vt:lpstr>
      <vt:lpstr>Office Theme</vt:lpstr>
      <vt:lpstr>ĐẠI HỌC TRÀ VINH TRƯỜNG KỸ THUẬT CÔNG NGHỆ</vt:lpstr>
      <vt:lpstr>TỔNG QUAN ĐỀ TÀI</vt:lpstr>
      <vt:lpstr>TỔNG QUAN ĐỀ TÀI</vt:lpstr>
      <vt:lpstr>CƠ SỞ LÝ THUYẾT CHUNG</vt:lpstr>
      <vt:lpstr>CƠ SỞ LÝ THUYẾT CHUNG</vt:lpstr>
      <vt:lpstr>CƠ SỞ LÝ THUYẾT CHUNG</vt:lpstr>
      <vt:lpstr>CƠ SỞ LÝ THUYẾT CHUNG</vt:lpstr>
      <vt:lpstr>CƠ SỞ LÝ THUYẾT CHUNG</vt:lpstr>
      <vt:lpstr>HIỆN THỰC HÓA NGHIÊN CỨU</vt:lpstr>
      <vt:lpstr>HIỆN THỰC HÓA NGHIÊN CỨU</vt:lpstr>
      <vt:lpstr>HIỆN THỰC HÓA NGHIÊN CỨU</vt:lpstr>
      <vt:lpstr>HIỆN THỰC HÓA NGHIÊN CỨU</vt:lpstr>
      <vt:lpstr>HIỆN THỰC HÓA NGHIÊN CỨU</vt:lpstr>
      <vt:lpstr>KẾT QUẢ NGHIÊN CỨU</vt:lpstr>
      <vt:lpstr>KẾT LUẬN &amp; HƯỚNG PHÁT TRIỂN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Lee Rain</dc:creator>
  <cp:lastModifiedBy>Trang Tran</cp:lastModifiedBy>
  <cp:revision>56</cp:revision>
  <dcterms:created xsi:type="dcterms:W3CDTF">2025-06-09T12:08:44Z</dcterms:created>
  <dcterms:modified xsi:type="dcterms:W3CDTF">2026-07-06T11:38:33Z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2025-05-25T00:00:00Z</vt:filetime>
  </property>
  <property fmtid="{D5CDD505-2E9C-101B-9397-08002B2CF9AE}" pid="3" name="Creator">
    <vt:lpwstr>Microsoft® PowerPoint® 2010</vt:lpwstr>
  </property>
  <property fmtid="{D5CDD505-2E9C-101B-9397-08002B2CF9AE}" pid="4" name="LastSaved">
    <vt:filetime>2025-06-09T00:00:00Z</vt:filetime>
  </property>
  <property fmtid="{D5CDD505-2E9C-101B-9397-08002B2CF9AE}" pid="5" name="Producer">
    <vt:lpwstr>Microsoft® PowerPoint® 2010</vt:lpwstr>
  </property>
</Properties>
</file>